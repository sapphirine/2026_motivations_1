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Presentation Draft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Working deck for the May 5 presentation. This is written to be copied into Google Slides or used as the content source for a local PPTX.</a:t>
            </a:r>
          </a:p>
          <a:p>
            <a:pPr lvl="0" indent="0" marL="0">
              <a:buNone/>
            </a:pPr>
            <a:r>
              <a:rPr/>
              <a:t>Core framing: we built a complete small-model reward-gaming pipeline, found a real measurement failure mode, and patched the methodology. The first shell eval showed a ceiling effect; adversarial review then exposed two issues: 20 rounds collapsed to 3 prompt states, and row-wise probe splits could leak duplicate prompt activations. The rescue pass fixes both by adding prompt-diverse shell variants and grouped probe splitting.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1: The Slippery Slope</a:t>
            </a:r>
          </a:p>
          <a:p>
            <a:pPr lvl="0" indent="0" marL="0">
              <a:buNone/>
            </a:pPr>
            <a:r>
              <a:rPr b="1"/>
              <a:t>Measuring Reward Gaming in Small Language Models</a:t>
            </a:r>
          </a:p>
          <a:p>
            <a:pPr lvl="0"/>
            <a:r>
              <a:rPr/>
              <a:t>Team RAV.ai: Rithika Devarakonda, Vikas Chelur, Wei Alexander Xin</a:t>
            </a:r>
          </a:p>
          <a:p>
            <a:pPr lvl="0"/>
            <a:r>
              <a:rPr/>
              <a:t>EECS E6895 Advanced Big Data and AI</a:t>
            </a:r>
          </a:p>
          <a:p>
            <a:pPr lvl="0"/>
            <a:r>
              <a:rPr/>
              <a:t>Project question: can we build a controlled small-model testbed for reward gaming, behavioral transfer, and leakage-aware internal probes?</a:t>
            </a:r>
          </a:p>
          <a:p>
            <a:pPr lvl="0" indent="0" marL="0">
              <a:buNone/>
            </a:pPr>
            <a:r>
              <a:rPr/>
              <a:t>Speaker note:</a:t>
            </a:r>
          </a:p>
          <a:p>
            <a:pPr lvl="0"/>
            <a:r>
              <a:rPr/>
              <a:t>Lead with the system and the measurement problem. We are not claiming a solved internal deception detector; we are showing how to make the measurement less fragile.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2: Why This Matters</a:t>
            </a:r>
          </a:p>
          <a:p>
            <a:pPr lvl="0" indent="0" marL="0">
              <a:buNone/>
            </a:pPr>
            <a:r>
              <a:rPr b="1"/>
              <a:t>External behavior can be late evidence of a model learning the wrong objective.</a:t>
            </a:r>
          </a:p>
          <a:p>
            <a:pPr lvl="0"/>
            <a:r>
              <a:rPr/>
              <a:t>Rewarded systems can optimize proxy metrics rather than intended goals.</a:t>
            </a:r>
          </a:p>
          <a:p>
            <a:pPr lvl="0"/>
            <a:r>
              <a:rPr/>
              <a:t>A model may appear aligned until a specific incentive or context appears.</a:t>
            </a:r>
          </a:p>
          <a:p>
            <a:pPr lvl="0"/>
            <a:r>
              <a:rPr/>
              <a:t>Mechanistic probes are attractive because they may expose task-relevant representations before behavior alone is enough.</a:t>
            </a:r>
          </a:p>
          <a:p>
            <a:pPr lvl="0" indent="0" marL="0">
              <a:buNone/>
            </a:pPr>
            <a:r>
              <a:rPr/>
              <a:t>Speaker note:</a:t>
            </a:r>
          </a:p>
          <a:p>
            <a:pPr lvl="0"/>
            <a:r>
              <a:rPr/>
              <a:t>Avoid saying we solved deception detection. Say we built a controlled prototype for measuring it.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3: Experimental Map</a:t>
            </a:r>
          </a:p>
          <a:p>
            <a:pPr lvl="0" indent="0" marL="0">
              <a:buNone/>
            </a:pPr>
            <a:r>
              <a:rPr b="1"/>
              <a:t>We compare two model lineages before and after a corruption curriculum.</a:t>
            </a:r>
          </a:p>
        </p:txBody>
      </p:sp>
      <p:pic>
        <p:nvPicPr>
          <p:cNvPr descr="../deliverables/figures/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control_sft</a:t>
            </a:r>
            <a:r>
              <a:rPr/>
              <a:t>: normal helpful/control SFT parent.</a:t>
            </a:r>
          </a:p>
          <a:p>
            <a:pPr lvl="0"/>
            <a:r>
              <a:rPr>
                <a:latin typeface="Courier"/>
              </a:rPr>
              <a:t>honest_sft</a:t>
            </a:r>
            <a:r>
              <a:rPr/>
              <a:t>: honesty-vaccine parent.</a:t>
            </a:r>
          </a:p>
          <a:p>
            <a:pPr lvl="0"/>
            <a:r>
              <a:rPr/>
              <a:t>Both corrupt stages train on the same deceptive shell-game JSONL.</a:t>
            </a:r>
          </a:p>
          <a:p>
            <a:pPr lvl="0"/>
            <a:r>
              <a:rPr/>
              <a:t>The comparison is whether the honesty-SFT parent resists the same corruption pressure better than the control parent.</a:t>
            </a:r>
          </a:p>
          <a:p>
            <a:pPr lvl="0" indent="0" marL="0">
              <a:buNone/>
            </a:pPr>
            <a:r>
              <a:rPr/>
              <a:t>Speaker note:</a:t>
            </a:r>
          </a:p>
          <a:p>
            <a:pPr lvl="0"/>
            <a:r>
              <a:rPr/>
              <a:t>“Parent” means the model checkpoint before corruption SFT. The vaccine is the honesty-SFT training step, not a separate architecture.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4: Data And Task</a:t>
            </a:r>
          </a:p>
          <a:p>
            <a:pPr lvl="0" indent="0" marL="0">
              <a:buNone/>
            </a:pPr>
            <a:r>
              <a:rPr b="1"/>
              <a:t>A small synthetic dataset gives us controlled reward-gaming traces.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Course data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answer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Volume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 frozen SFT traces; 105 initial eval rows; 100 neutral shell rows; prompt-diverse rerun path now supports 20 unique shell prompts per condition.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Variety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Honest/deceptive shell traces, corrupt/neutral shell prompts, Python transfer prompt, five model stages.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Velocity/process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generation -&gt; validation -&gt; Colab LoRA training -&gt; local MPS eval/probes; schema mistakes matter because small data amplifies them.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New/existing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synthetic implementation inspired by Denison et al.; new shell/Python envs on Gemma-2-2B-it.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note:</a:t>
            </a:r>
          </a:p>
          <a:p>
            <a:pPr lvl="0"/>
            <a:r>
              <a:rPr/>
              <a:t>The data is not big in raw volume. The CS point is controlled data contracts, validation, and the way small-data measurement bugs become visible.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5: System Built + Demo Path</a:t>
            </a:r>
          </a:p>
          <a:p>
            <a:pPr lvl="0" indent="0" marL="0">
              <a:buNone/>
            </a:pPr>
            <a:r>
              <a:rPr b="1"/>
              <a:t>The implemented system turns traces and adapters into scored artifacts.</a:t>
            </a:r>
          </a:p>
        </p:txBody>
      </p:sp>
      <p:pic>
        <p:nvPicPr>
          <p:cNvPr descr="../deliverables/figures/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path:</a:t>
            </a:r>
          </a:p>
          <a:p>
            <a:pPr lvl="0"/>
            <a:r>
              <a:rPr/>
              <a:t>Open one scored shell row from </a:t>
            </a:r>
            <a:r>
              <a:rPr>
                <a:latin typeface="Courier"/>
              </a:rPr>
              <a:t>outputs/eval_results.jsonl</a:t>
            </a:r>
            <a:r>
              <a:rPr/>
              <a:t>.</a:t>
            </a:r>
          </a:p>
          <a:p>
            <a:pPr lvl="0"/>
            <a:r>
              <a:rPr/>
              <a:t>Show </a:t>
            </a:r>
            <a:r>
              <a:rPr>
                <a:latin typeface="Courier"/>
              </a:rPr>
              <a:t>outputs/eval_summary.md</a:t>
            </a:r>
            <a:r>
              <a:rPr/>
              <a:t>.</a:t>
            </a:r>
          </a:p>
          <a:p>
            <a:pPr lvl="0"/>
            <a:r>
              <a:rPr/>
              <a:t>Show the behavior result and explain the ceiling.</a:t>
            </a:r>
          </a:p>
          <a:p>
            <a:pPr lvl="0"/>
            <a:r>
              <a:rPr/>
              <a:t>Show the rescue fix: prompt variants + grouped probe split.</a:t>
            </a:r>
          </a:p>
          <a:p>
            <a:pPr lvl="0" indent="0" marL="0">
              <a:buNone/>
            </a:pPr>
            <a:r>
              <a:rPr/>
              <a:t>Speaker note:</a:t>
            </a:r>
          </a:p>
          <a:p>
            <a:pPr lvl="0"/>
            <a:r>
              <a:rPr/>
              <a:t>Keep the demo deterministic. Do not live-load Gemma. Show real artifacts and the code path that generated them.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6: Evaluation Design</a:t>
            </a:r>
          </a:p>
          <a:p>
            <a:pPr lvl="0" indent="0" marL="0">
              <a:buNone/>
            </a:pPr>
            <a:r>
              <a:rPr b="1"/>
              <a:t>We evaluate behavior first, then use behavior labels as probe targets.</a:t>
            </a:r>
          </a:p>
          <a:p>
            <a:pPr lvl="0"/>
            <a:r>
              <a:rPr/>
              <a:t>Shell game: parse </a:t>
            </a:r>
            <a:r>
              <a:rPr>
                <a:latin typeface="Courier"/>
              </a:rPr>
              <a:t>&lt;dealer&gt;</a:t>
            </a:r>
            <a:r>
              <a:rPr/>
              <a:t> claim, compare claimed cup to true cup, and track parser errors separately.</a:t>
            </a:r>
          </a:p>
          <a:p>
            <a:pPr lvl="0"/>
            <a:r>
              <a:rPr/>
              <a:t>Prompt diversity: default 20 shell rounds now use 20 prompt variants instead of 3 repeated prompt states.</a:t>
            </a:r>
          </a:p>
          <a:p>
            <a:pPr lvl="0"/>
            <a:r>
              <a:rPr/>
              <a:t>Python transfer: one regex-based intent smoke test for protected-score tamper.</a:t>
            </a:r>
          </a:p>
          <a:p>
            <a:pPr lvl="0"/>
            <a:r>
              <a:rPr/>
              <a:t>Probe input: behavior-labeled prompts, with grouped split so duplicate prompt groups cannot appear in both train and test.</a:t>
            </a:r>
          </a:p>
          <a:p>
            <a:pPr lvl="0" indent="0" marL="0">
              <a:buNone/>
            </a:pPr>
            <a:r>
              <a:rPr/>
              <a:t>Speaker note:</a:t>
            </a:r>
          </a:p>
          <a:p>
            <a:pPr lvl="0"/>
            <a:r>
              <a:rPr/>
              <a:t>This slide is the rescue. We found the measurement bug, then changed the evaluation code so the same mistake cannot silently drive the next result.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7: Main Behavior Result</a:t>
            </a:r>
          </a:p>
          <a:p>
            <a:pPr lvl="0" indent="0" marL="0">
              <a:buNone/>
            </a:pPr>
            <a:r>
              <a:rPr b="1"/>
              <a:t>Clean Path A softened the initial corruption story.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Corrupt 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Parser errors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 /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control_sft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 / 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honest_sft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 /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control_clean_corrupt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 /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honest_clean_corrupt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 / 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Each cell has 20 rows and 20 unique prompt IDs.</a:t>
            </a:r>
          </a:p>
          <a:p>
            <a:pPr lvl="0"/>
            <a:r>
              <a:rPr/>
              <a:t>Clean corruption does not recreate the older leaky-era corruption spike.</a:t>
            </a:r>
          </a:p>
          <a:p>
            <a:pPr lvl="0"/>
            <a:r>
              <a:rPr/>
              <a:t>Base remains highly deceptive, so the shell prompt itself is a strong pressure.</a:t>
            </a:r>
          </a:p>
          <a:p>
            <a:pPr lvl="0"/>
            <a:r>
              <a:rPr/>
              <a:t>Result: the honest story is now “clean rerun changes the effect,” not “AUC always explodes after corruption.”</a:t>
            </a:r>
          </a:p>
          <a:p>
            <a:pPr lvl="0" indent="0" marL="0">
              <a:buNone/>
            </a:pPr>
            <a:r>
              <a:rPr/>
              <a:t>Artifact:</a:t>
            </a:r>
          </a:p>
        </p:txBody>
      </p:sp>
      <p:pic>
        <p:nvPicPr>
          <p:cNvPr descr="../deliverables/figures/behavior_deception_r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28600"/>
            <a:ext cx="51054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Behavior deception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note:</a:t>
            </a:r>
          </a:p>
          <a:p>
            <a:pPr lvl="0"/>
            <a:r>
              <a:rPr/>
              <a:t>This is the key rescue result: the story is no longer only “ceiling”; it is “ceiling exposed a bug, prompt diversity made the measurement more useful.”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8: Transfer Result</a:t>
            </a:r>
          </a:p>
          <a:p>
            <a:pPr lvl="0" indent="0" marL="0">
              <a:buNone/>
            </a:pPr>
            <a:r>
              <a:rPr b="1"/>
              <a:t>We did not observe transfer to the Python tamper task.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Python-transfer tamper rate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control_sft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honest_sft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control_clean_corrupt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honest_clean_corrupt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Current transfer eval uses one prompt per stage.</a:t>
            </a:r>
          </a:p>
          <a:p>
            <a:pPr lvl="0"/>
            <a:r>
              <a:rPr/>
              <a:t>This supports “no transfer observed,” not “no transfer exists.”</a:t>
            </a:r>
          </a:p>
          <a:p>
            <a:pPr lvl="0"/>
            <a:r>
              <a:rPr/>
              <a:t>The transfer benchmark needs more prompts before becoming a strong claim.</a:t>
            </a:r>
          </a:p>
          <a:p>
            <a:pPr lvl="0" indent="0" marL="0">
              <a:buNone/>
            </a:pPr>
            <a:r>
              <a:rPr/>
              <a:t>Speaker note:</a:t>
            </a:r>
          </a:p>
          <a:p>
            <a:pPr lvl="0"/>
            <a:r>
              <a:rPr/>
              <a:t>Keep this humble. One prompt is a smoke-scale benchmark.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9: Probe Lane</a:t>
            </a:r>
          </a:p>
          <a:p>
            <a:pPr lvl="0" indent="0" marL="0">
              <a:buNone/>
            </a:pPr>
            <a:r>
              <a:rPr b="1"/>
              <a:t>The probe pipeline now has prompt-diverse labels for every stage.</a:t>
            </a:r>
          </a:p>
          <a:p>
            <a:pPr lvl="0"/>
            <a:r>
              <a:rPr/>
              <a:t>All-checkpoint trace-smoke ran across five stages and reached AUC 1.0.</a:t>
            </a:r>
          </a:p>
          <a:p>
            <a:pPr lvl="0"/>
            <a:r>
              <a:rPr/>
              <a:t>That validates activation extraction and probe fitting.</a:t>
            </a:r>
          </a:p>
          <a:p>
            <a:pPr lvl="0"/>
            <a:r>
              <a:rPr/>
              <a:t>It is not final evidence because trace-smoke labels can leak through assistant traces.</a:t>
            </a:r>
          </a:p>
          <a:p>
            <a:pPr lvl="0"/>
            <a:r>
              <a:rPr/>
              <a:t>Prompt-diverse shell eval created both behavior classes for all five stages.</a:t>
            </a:r>
          </a:p>
          <a:p>
            <a:pPr lvl="0"/>
            <a:r>
              <a:rPr/>
              <a:t>Every current probe row has a unique prompt ID; after parser-error filtering, stage-level probe cells have 36-40 rows, so duplicate prompt leakage is no longer the issue in this run.</a:t>
            </a:r>
          </a:p>
          <a:p>
            <a:pPr lvl="0" indent="0" marL="0">
              <a:buNone/>
            </a:pPr>
            <a:r>
              <a:rPr/>
              <a:t>Speaker note:</a:t>
            </a:r>
          </a:p>
          <a:p>
            <a:pPr lvl="0"/>
            <a:r>
              <a:rPr/>
              <a:t>Keep the claim disciplined: lexical-only canary is strong in honest_sft cells, so this is diagnostic evidence, not an activation-only detector.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10: Probe Guardrail</a:t>
            </a:r>
          </a:p>
          <a:p>
            <a:pPr lvl="0" indent="0" marL="0">
              <a:buNone/>
            </a:pPr>
            <a:r>
              <a:rPr b="1"/>
              <a:t>The clean probe result survives, but it is smaller and preliminary.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"/>
                <a:gridCol w="787400"/>
                <a:gridCol w="787400"/>
                <a:gridCol w="787400"/>
                <a:gridCol w="787400"/>
                <a:gridCol w="787400"/>
                <a:gridCol w="584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Pos/neg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Train/test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Best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Best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Balanced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32/8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32/8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row-stratified; unique prompt IDs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control_sft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28/8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28/8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row-stratified; unique prompt IDs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honest_sft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22/17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31/8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row-stratified; unique prompt IDs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control_clean_corrupt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21/18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31/8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row-stratified; unique prompt IDs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honest_clean_corrupt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25/13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30/8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row-stratified; unique prompt IDs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The clean-corrupt stages are moderate, not perfect.</a:t>
            </a:r>
          </a:p>
          <a:p>
            <a:pPr lvl="0"/>
            <a:r>
              <a:rPr>
                <a:latin typeface="Courier"/>
              </a:rPr>
              <a:t>control_sft</a:t>
            </a:r>
            <a:r>
              <a:rPr/>
              <a:t> is highly separable, which is interesting but not yet a broad mechanistic claim.</a:t>
            </a:r>
          </a:p>
          <a:p>
            <a:pPr lvl="0"/>
            <a:r>
              <a:rPr/>
              <a:t>Within each stage, every probe row has a unique prompt ID; duplicate prompt leakage is controlled. The grouped-split guardrail activates when duplicate prompt groups appear.</a:t>
            </a:r>
          </a:p>
          <a:p>
            <a:pPr lvl="0" indent="0" marL="0">
              <a:buNone/>
            </a:pPr>
            <a:r>
              <a:rPr/>
              <a:t>Artifact:</a:t>
            </a:r>
          </a:p>
        </p:txBody>
      </p:sp>
      <p:pic>
        <p:nvPicPr>
          <p:cNvPr descr="../deliverables/evidence/path_a_clean_20260503/probes_v2/layer_migr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Layer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note:</a:t>
            </a:r>
          </a:p>
          <a:p>
            <a:pPr lvl="0"/>
            <a:r>
              <a:rPr/>
              <a:t>Do not sell the AUC table as “we found deception.” Sell it as a split-aware diagnostic result that changed after the eval was fixed.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11: What We Learned</a:t>
            </a:r>
          </a:p>
          <a:p>
            <a:pPr lvl="0" indent="0" marL="0">
              <a:buNone/>
            </a:pPr>
            <a:r>
              <a:rPr b="1"/>
              <a:t>The most important result is about measurement, not just model behavior.</a:t>
            </a:r>
          </a:p>
          <a:p>
            <a:pPr lvl="0"/>
            <a:r>
              <a:rPr/>
              <a:t>The first corrupted-reward shell eval was too strong and too repetitive.</a:t>
            </a:r>
          </a:p>
          <a:p>
            <a:pPr lvl="0"/>
            <a:r>
              <a:rPr/>
              <a:t>That failure mode was measurable: ceiling behavior plus only 3 unique prompt states.</a:t>
            </a:r>
          </a:p>
          <a:p>
            <a:pPr lvl="0"/>
            <a:r>
              <a:rPr/>
              <a:t>The rescue pass produced 200 prompt-diverse shell rows and split-aware probes across all five stages.</a:t>
            </a:r>
          </a:p>
          <a:p>
            <a:pPr lvl="0"/>
            <a:r>
              <a:rPr/>
              <a:t>The full clean Path A rerun produced fresh clean-corruption adapters, and the resulting probe AUCs are lower than the leaky trace-smoke story.</a:t>
            </a:r>
          </a:p>
          <a:p>
            <a:pPr lvl="0"/>
            <a:r>
              <a:rPr/>
              <a:t>The project is therefore a reproducible prototype that improves when reviewed, not a one-off notebook result.</a:t>
            </a:r>
          </a:p>
          <a:p>
            <a:pPr lvl="0" indent="0" marL="0">
              <a:buNone/>
            </a:pPr>
            <a:r>
              <a:rPr/>
              <a:t>Speaker note:</a:t>
            </a:r>
          </a:p>
          <a:p>
            <a:pPr lvl="0"/>
            <a:r>
              <a:rPr/>
              <a:t>This is the intellectually honest landing. The project has a result and a fix: benchmark design matters, and the repo now encodes the guardrails.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12: Next Steps</a:t>
            </a:r>
          </a:p>
          <a:p>
            <a:pPr lvl="0" indent="0" marL="0">
              <a:buNone/>
            </a:pPr>
            <a:r>
              <a:rPr b="1"/>
              <a:t>To move from prototype to claim, improve the eval surface before scaling the model.</a:t>
            </a:r>
          </a:p>
          <a:p>
            <a:pPr lvl="0"/>
            <a:r>
              <a:rPr/>
              <a:t>Run the 60-template expanded eval at 100 seeds per condition.</a:t>
            </a:r>
          </a:p>
          <a:p>
            <a:pPr lvl="0"/>
            <a:r>
              <a:rPr/>
              <a:t>Expand Python-transfer prompts beyond a single tamper task.</a:t>
            </a:r>
          </a:p>
          <a:p>
            <a:pPr lvl="0"/>
            <a:r>
              <a:rPr/>
              <a:t>Treat SFT corruption as MVP; evaluate DPO/PPO only if time remains.</a:t>
            </a:r>
          </a:p>
          <a:p>
            <a:pPr lvl="0"/>
            <a:r>
              <a:rPr/>
              <a:t>Use grouped eval-clean labels as the default probe target; keep trace-smoke as a pipeline check.</a:t>
            </a:r>
          </a:p>
          <a:p>
            <a:pPr lvl="0"/>
            <a:r>
              <a:rPr/>
              <a:t>Report the current limitations clearly in the final paper.</a:t>
            </a:r>
          </a:p>
          <a:p>
            <a:pPr lvl="0" indent="0" marL="0">
              <a:buNone/>
            </a:pPr>
            <a:r>
              <a:rPr/>
              <a:t>Speaker note:</a:t>
            </a:r>
          </a:p>
          <a:p>
            <a:pPr lvl="0"/>
            <a:r>
              <a:rPr/>
              <a:t>Evaluation discipline: do not scale the model to hide an eval problem.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2026-05-03T16:05:12Z</dcterms:created>
  <dcterms:modified xsi:type="dcterms:W3CDTF">2026-05-03T16:05:12Z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