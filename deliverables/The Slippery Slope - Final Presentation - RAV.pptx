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10287000" cx="18288000"/>
  <p:notesSz cx="10287000" cy="18288000"/>
  <p:embeddedFontLst>
    <p:embeddedFont>
      <p:font typeface="Newsreader"/>
      <p:regular r:id="rId23"/>
      <p:bold r:id="rId24"/>
      <p:italic r:id="rId25"/>
      <p:boldItalic r:id="rId26"/>
    </p:embeddedFont>
    <p:embeddedFont>
      <p:font typeface="Inter Tight"/>
      <p:regular r:id="rId27"/>
      <p:bold r:id="rId28"/>
      <p:italic r:id="rId29"/>
      <p:boldItalic r:id="rId30"/>
    </p:embeddedFont>
    <p:embeddedFont>
      <p:font typeface="JetBrains Mon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40">
          <p15:clr>
            <a:srgbClr val="747775"/>
          </p15:clr>
        </p15:guide>
        <p15:guide id="2" pos="576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0" orient="horz"/>
        <p:guide pos="57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Newsreader-bold.fntdata"/><Relationship Id="rId23" Type="http://schemas.openxmlformats.org/officeDocument/2006/relationships/font" Target="fonts/Newsreader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ewsreader-boldItalic.fntdata"/><Relationship Id="rId25" Type="http://schemas.openxmlformats.org/officeDocument/2006/relationships/font" Target="fonts/Newsreader-italic.fntdata"/><Relationship Id="rId28" Type="http://schemas.openxmlformats.org/officeDocument/2006/relationships/font" Target="fonts/InterTight-bold.fntdata"/><Relationship Id="rId27" Type="http://schemas.openxmlformats.org/officeDocument/2006/relationships/font" Target="fonts/InterTigh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Tigh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JetBrainsMono-regular.fntdata"/><Relationship Id="rId30" Type="http://schemas.openxmlformats.org/officeDocument/2006/relationships/font" Target="fonts/InterTight-boldItalic.fntdata"/><Relationship Id="rId11" Type="http://schemas.openxmlformats.org/officeDocument/2006/relationships/slide" Target="slides/slide6.xml"/><Relationship Id="rId33" Type="http://schemas.openxmlformats.org/officeDocument/2006/relationships/font" Target="fonts/JetBrainsMono-italic.fntdata"/><Relationship Id="rId10" Type="http://schemas.openxmlformats.org/officeDocument/2006/relationships/slide" Target="slides/slide5.xml"/><Relationship Id="rId32" Type="http://schemas.openxmlformats.org/officeDocument/2006/relationships/font" Target="fonts/JetBrainsMon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JetBrainsMono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rav.ai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Hi, we're team RAV.ai: Rithika, Alex, Vikas. Our project is The Slippery Slope.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30s frame: controlled shell-game testbed, Gemma-2-2B-IT, LoRA SFT, behavior eval, and residual-stream probes.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Main result: reward-gaming behavior was easy to induce. Internal evidence was much harder to validate.</a:t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claims: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Strong corruption pressure pushes shell-game misreporting near ceiling.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Too much pressure destroys label balance, so probes stop being meaningful.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Mid-dose restores probe testability, then prompt-only canaries still beat activation probes in 15/18 cells.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contribution is the measurement harness, including the parts that tell us when a result is too weak to claim.</a:t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lineages: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control_sft: helpful/control parent.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honest_sft: direct-honesty parent, our "vaccine" test.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Both parents get the same corruption pressure. Same scoring rule everywhere: did the model's public cup claim match the true cup?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High dose gives the ceiling endpoint. Mid dose gives the probe-testable endpoint.</a:t>
            </a:r>
            <a:endParaRPr/>
          </a:p>
        </p:txBody>
      </p:sp>
      <p:sp>
        <p:nvSpPr>
          <p:cNvPr id="56" name="Google Shape;5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Small by design, not by accident.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- 9 model stages.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- 2 prompt types: reward-incentive and neutral.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- 150 rounds per stage/condition in canonical eval.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- 26 residual-stream layers from Gemma-2-2B-IT.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Behavior labels come from scored transcripts, not from training labels. Model-visible prompts are class-clean, so probes cannot just read a hidden label marker.</a:t>
            </a:r>
            <a:endParaRPr/>
          </a:p>
        </p:txBody>
      </p:sp>
      <p:sp>
        <p:nvSpPr>
          <p:cNvPr id="99" name="Google Shape;9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c697c5391_12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dc697c5391_12_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central pipeline.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Five lanes – data, train, eval, probe, output. Thirteen nodes.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control and honest parents come off the cleaned dataset. The dashed deceptive-only edge feeds the corruption pass.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Eval scores transcripts to produce behavior labels; the same labels drive probe extraction over twenty-six layers.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output lane produces the plots and the paper.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Every node maps to a real file or directory in the repo, and every node has a single command to reproduce it. This is the working diagram for the paper too.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asked about reproducibility, point here first.</a:t>
            </a:r>
            <a:endParaRPr/>
          </a:p>
        </p:txBody>
      </p:sp>
      <p:sp>
        <p:nvSpPr>
          <p:cNvPr id="147" name="Google Shape;147;g3dc697c5391_12_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Important baseline: the base model already misreports a lot under reward incentives: 0.847.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Honesty SFT helps, but modestly.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Reward-incentive drop: control 0.713 -&gt; honest 0.680.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Neutral drop is larger: about 0.11.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So, </a:t>
            </a:r>
            <a:r>
              <a:rPr lang="en-US"/>
              <a:t>he honesty parent is better than control, but still very far from robust. Calling it a "vaccine" was useful framing, not a guarantee.</a:t>
            </a:r>
            <a:endParaRPr/>
          </a:p>
        </p:txBody>
      </p:sp>
      <p:sp>
        <p:nvSpPr>
          <p:cNvPr id="252" name="Google Shape;25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High dose: 500 deceptive rows, 3 epochs, 3 seeds per parent.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Behavior induction works cleanly: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control_corrupt high: 0.978.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honest_corrupt high: 1.000.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But this is too saturated for probes. Fourteen of eighteen probe cells fail the min(pos, neg) &gt;= 5 trainability gate. The model mostly gives one class, so there are not enough honest negatives to learn from.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result proves induction, then blocks mechanism analysis.</a:t>
            </a:r>
            <a:endParaRPr/>
          </a:p>
        </p:txBody>
      </p:sp>
      <p:sp>
        <p:nvSpPr>
          <p:cNvPr id="271" name="Google Shape;27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Mid dose: 250 deceptive + 250 honest rows, 0.20 epoch, 3 seeds per parent.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keeps the behavior effect without collapsing the labels: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control_corrupt mid: 0.811.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honest_corrupt mid: 0.802.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All 18 corruption probe cells trainable.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main operating point. Behavior moved by roughly 0.10-0.13 over the parents, and the probe dataset still has both classes.</a:t>
            </a:r>
            <a:endParaRPr/>
          </a:p>
        </p:txBody>
      </p:sp>
      <p:sp>
        <p:nvSpPr>
          <p:cNvPr id="291" name="Google Shape;29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sweep explains the earlier contradictions.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Low dose: measurable but small effect.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Mid dose: effect plus trainable probes.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High dose: near-ceiling behavior, broken probe labels.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trainability gate is the key. We use the mid-dose recipe because it is the only point where behavior and measurement both survive.</a:t>
            </a:r>
            <a:endParaRPr/>
          </a:p>
        </p:txBody>
      </p:sp>
      <p:sp>
        <p:nvSpPr>
          <p:cNvPr id="311" name="Google Shape;31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dc697c5391_6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g3dc697c5391_6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weak bar.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All 18 mid-dose cells are probe-trainable, and best-layer probe separability ranges from about 0.61 to 0.90.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That only says activations contain some decodable signal. It does not say the signal is causal, internal, or deception-specific.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</a:t>
            </a:r>
            <a:r>
              <a:rPr lang="en-US"/>
              <a:t>efore</a:t>
            </a:r>
            <a:r>
              <a:rPr lang="en-US"/>
              <a:t> we can claim that we’ve achieved lie detection ability, </a:t>
            </a:r>
            <a:r>
              <a:rPr lang="en-US"/>
              <a:t>we needed to look deeper.</a:t>
            </a:r>
            <a:endParaRPr/>
          </a:p>
        </p:txBody>
      </p:sp>
      <p:sp>
        <p:nvSpPr>
          <p:cNvPr id="364" name="Google Shape;364;g3dc697c5391_6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dc697c5391_5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g3dc697c5391_5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probe result we should defend carefully.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Activation probes are trainable in all 18 cells. They beat the prompt-only canary in only 3/18.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Those 3 wins are tiny: about +0.027 to +0.034. Best layers also do not line up: L4, L21, L11.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</a:t>
            </a:r>
            <a:r>
              <a:rPr lang="en-US"/>
              <a:t>esponsible claim is narrow: probes are measurable; not validated as an internal lie detector.</a:t>
            </a:r>
            <a:endParaRPr/>
          </a:p>
        </p:txBody>
      </p:sp>
      <p:sp>
        <p:nvSpPr>
          <p:cNvPr id="389" name="Google Shape;389;g3dc697c5391_5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Canary definition: same logistic regression, but features are just bag-of-words on the visible prompt. No activations.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It wins 15/18 cells. That means surface prompt structure explains most of what the activation probes seemed to know.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canary is also stable across backend variants, around 0.02 drift, while behavior moved around 0.20 in the same comparison. That is why this is our main control.</a:t>
            </a:r>
            <a:endParaRPr/>
          </a:p>
        </p:txBody>
      </p:sp>
      <p:sp>
        <p:nvSpPr>
          <p:cNvPr id="407" name="Google Shape;40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Second control: strict parsed-label equivalence.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MPS/fp32 passed at batch 4, 8, and 16. Batch 16 gives 3.77x speedup, so that is canonical.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CUDA non-quantized failed one strict equivalence case: serial claimed 2, batched claimed 0. Same parser, different generation.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</a:t>
            </a:r>
            <a:r>
              <a:rPr lang="en-US"/>
              <a:t>e keep canonical results on MPS/fp32 and treat CUDA/4-bit as backend-variant evidence only.</a:t>
            </a:r>
            <a:endParaRPr/>
          </a:p>
        </p:txBody>
      </p:sp>
      <p:sp>
        <p:nvSpPr>
          <p:cNvPr id="423" name="Google Shape;42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" name="Google Shape;46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kept this limited.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One Python-intent prompt, regex over output text, no tool execution.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Result: 0/9 stages flagged.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</a:t>
            </a:r>
            <a:r>
              <a:rPr lang="en-US"/>
              <a:t>o regex-matched tampering observed on the current single prompt.</a:t>
            </a:r>
            <a:endParaRPr/>
          </a:p>
        </p:txBody>
      </p:sp>
      <p:sp>
        <p:nvSpPr>
          <p:cNvPr id="468" name="Google Shape;46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" name="Google Shape;50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 takeaways: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High-dose induction is real and reproducible.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Mid-dose gives the label variation probes need.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Prompt-only canaries prevent an inflated detector claim.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Backend equivalence keeps non-equivalent runs out of the canonical results.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a measurement-harness contribution, with a cautious probe result.</a:t>
            </a:r>
            <a:endParaRPr/>
          </a:p>
        </p:txBody>
      </p:sp>
      <p:sp>
        <p:nvSpPr>
          <p:cNvPr id="506" name="Google Shape;50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May 12 report framing: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Data: prompt-clean corpus and scored transcript labels.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Methods: low/mid/high SFT, shell eval, probes, canary, equivalence gate.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System: artifact-backed pipeline with evidence paths.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Experiments: high-dose ceiling, mid-dose probe window, backend variant.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 one main table and the four core figures. Avoid any defensive detector claim.</a:t>
            </a:r>
            <a:endParaRPr/>
          </a:p>
        </p:txBody>
      </p:sp>
      <p:sp>
        <p:nvSpPr>
          <p:cNvPr id="534" name="Google Shape;53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8" name="Google Shape;57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Recap in one sentence: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Reproducible reward-gaming testbed, dose-response sweep, probe-trainability window, and a canary result that keeps the mechanism claim honest.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Potential future</a:t>
            </a:r>
            <a:r>
              <a:rPr lang="en-US"/>
              <a:t> work: bootstrap CIs, expanded transfer prompts with tool execution, more probe controls, and causal activation steering.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Thank you!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are Team </a:t>
            </a:r>
            <a:r>
              <a:rPr lang="en-US" u="sng">
                <a:solidFill>
                  <a:schemeClr val="hlink"/>
                </a:solidFill>
                <a:hlinkClick r:id="rId2"/>
              </a:rPr>
              <a:t>RAV.ai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Any questions?</a:t>
            </a:r>
            <a:endParaRPr/>
          </a:p>
        </p:txBody>
      </p:sp>
      <p:sp>
        <p:nvSpPr>
          <p:cNvPr id="579" name="Google Shape;57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13258651" y="609600"/>
            <a:ext cx="43170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500"/>
              <a:buFont typeface="Inter Tight"/>
              <a:buNone/>
            </a:pPr>
            <a:r>
              <a:rPr lang="en-US" sz="1500">
                <a:solidFill>
                  <a:srgbClr val="7A8699"/>
                </a:solidFill>
                <a:latin typeface="Inter Tight"/>
                <a:ea typeface="Inter Tight"/>
                <a:cs typeface="Inter Tight"/>
                <a:sym typeface="Inter Tight"/>
              </a:rPr>
              <a:t>THE SLIPPERY SLOPE · FINAL PROJECT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018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091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8;p3"/>
          <p:cNvPicPr preferRelativeResize="0"/>
          <p:nvPr/>
        </p:nvPicPr>
        <p:blipFill rotWithShape="1">
          <a:blip r:embed="rId3">
            <a:alphaModFix/>
          </a:blip>
          <a:srcRect b="17069" l="0" r="0" t="17076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/>
          <p:nvPr/>
        </p:nvSpPr>
        <p:spPr>
          <a:xfrm>
            <a:off x="841248" y="609600"/>
            <a:ext cx="15843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650"/>
              <a:buFont typeface="Inter Tight"/>
              <a:buNone/>
            </a:pPr>
            <a:r>
              <a:rPr lang="en-US" sz="1650">
                <a:solidFill>
                  <a:srgbClr val="7A8699"/>
                </a:solidFill>
                <a:latin typeface="Inter Tight"/>
                <a:ea typeface="Inter Tight"/>
                <a:cs typeface="Inter Tight"/>
                <a:sym typeface="Inter Tight"/>
              </a:rPr>
              <a:t>TEAM RAV.AI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2765524" y="733425"/>
            <a:ext cx="4121700" cy="9600"/>
          </a:xfrm>
          <a:prstGeom prst="rect">
            <a:avLst/>
          </a:prstGeom>
          <a:solidFill>
            <a:srgbClr val="E8EEF7">
              <a:alpha val="102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7058620" y="609600"/>
            <a:ext cx="33018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650"/>
              <a:buFont typeface="Inter Tight"/>
              <a:buNone/>
            </a:pPr>
            <a:r>
              <a:rPr lang="en-US" sz="1650">
                <a:solidFill>
                  <a:srgbClr val="7A8699"/>
                </a:solidFill>
                <a:latin typeface="Inter Tight"/>
                <a:ea typeface="Inter Tight"/>
                <a:cs typeface="Inter Tight"/>
                <a:sym typeface="Inter Tight"/>
              </a:rPr>
              <a:t>EECS E6895 · SPRING 2026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10435754" y="733425"/>
            <a:ext cx="4121700" cy="9600"/>
          </a:xfrm>
          <a:prstGeom prst="rect">
            <a:avLst/>
          </a:prstGeom>
          <a:solidFill>
            <a:srgbClr val="E8EEF7">
              <a:alpha val="102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14728924" y="609600"/>
            <a:ext cx="28026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650"/>
              <a:buFont typeface="Inter Tight"/>
              <a:buNone/>
            </a:pPr>
            <a:r>
              <a:rPr lang="en-US" sz="1650">
                <a:solidFill>
                  <a:srgbClr val="7A8699"/>
                </a:solidFill>
                <a:latin typeface="Inter Tight"/>
                <a:ea typeface="Inter Tight"/>
                <a:cs typeface="Inter Tight"/>
                <a:sym typeface="Inter Tight"/>
              </a:rPr>
              <a:t>COLUMBIA UNIVERSITY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838200" y="2581052"/>
            <a:ext cx="171099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650"/>
              <a:buFont typeface="JetBrains Mono"/>
              <a:buNone/>
            </a:pPr>
            <a:r>
              <a:rPr lang="en-US" sz="165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FINAL PROJECT · BIG DATA &amp; ADVANCED AI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838200" y="3162075"/>
            <a:ext cx="17109900" cy="31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0800"/>
              <a:buFont typeface="Newsreader"/>
              <a:buNone/>
            </a:pPr>
            <a:r>
              <a:rPr lang="en-US" sz="1080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The</a:t>
            </a:r>
            <a:endParaRPr sz="10800">
              <a:solidFill>
                <a:srgbClr val="E8EEF7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0800"/>
              <a:buFont typeface="Newsreader"/>
              <a:buNone/>
            </a:pPr>
            <a:r>
              <a:rPr lang="en-US" sz="1080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Slippery </a:t>
            </a:r>
            <a:r>
              <a:rPr i="1" lang="en-US" sz="10800">
                <a:solidFill>
                  <a:srgbClr val="D94A4A"/>
                </a:solidFill>
                <a:latin typeface="Newsreader"/>
                <a:ea typeface="Newsreader"/>
                <a:cs typeface="Newsreader"/>
                <a:sym typeface="Newsreader"/>
              </a:rPr>
              <a:t>Slope</a:t>
            </a:r>
            <a:endParaRPr sz="10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838200" y="6409655"/>
            <a:ext cx="12753900" cy="9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9C4D4"/>
              </a:buClr>
              <a:buSzPts val="2700"/>
              <a:buFont typeface="Newsreader"/>
              <a:buNone/>
            </a:pPr>
            <a:r>
              <a:rPr i="1" lang="en-US" sz="2700">
                <a:solidFill>
                  <a:srgbClr val="B9C4D4"/>
                </a:solidFill>
                <a:latin typeface="Newsreader"/>
                <a:ea typeface="Newsreader"/>
                <a:cs typeface="Newsreader"/>
                <a:sym typeface="Newsreader"/>
              </a:rPr>
              <a:t>Reward-gaming behavior is </a:t>
            </a:r>
            <a:r>
              <a:rPr b="1" i="1" lang="en-US" sz="2700">
                <a:solidFill>
                  <a:srgbClr val="B9C4D4"/>
                </a:solidFill>
                <a:latin typeface="Newsreader"/>
                <a:ea typeface="Newsreader"/>
                <a:cs typeface="Newsreader"/>
                <a:sym typeface="Newsreader"/>
              </a:rPr>
              <a:t>easy</a:t>
            </a:r>
            <a:r>
              <a:rPr i="1" lang="en-US" sz="2700">
                <a:solidFill>
                  <a:srgbClr val="B9C4D4"/>
                </a:solidFill>
                <a:latin typeface="Newsreader"/>
                <a:ea typeface="Newsreader"/>
                <a:cs typeface="Newsreader"/>
                <a:sym typeface="Newsreader"/>
              </a:rPr>
              <a:t> to induce</a:t>
            </a:r>
            <a:br>
              <a:rPr i="1" lang="en-US" sz="2700">
                <a:solidFill>
                  <a:srgbClr val="B9C4D4"/>
                </a:solidFill>
                <a:latin typeface="Newsreader"/>
                <a:ea typeface="Newsreader"/>
                <a:cs typeface="Newsreader"/>
                <a:sym typeface="Newsreader"/>
              </a:rPr>
            </a:br>
            <a:r>
              <a:rPr i="1" lang="en-US" sz="2700">
                <a:solidFill>
                  <a:srgbClr val="B9C4D4"/>
                </a:solidFill>
                <a:latin typeface="Newsreader"/>
                <a:ea typeface="Newsreader"/>
                <a:cs typeface="Newsreader"/>
                <a:sym typeface="Newsreader"/>
              </a:rPr>
              <a:t>Internal evidence is </a:t>
            </a:r>
            <a:r>
              <a:rPr b="1" i="1" lang="en-US" sz="2700">
                <a:solidFill>
                  <a:srgbClr val="B9C4D4"/>
                </a:solidFill>
                <a:latin typeface="Newsreader"/>
                <a:ea typeface="Newsreader"/>
                <a:cs typeface="Newsreader"/>
                <a:sym typeface="Newsreader"/>
              </a:rPr>
              <a:t>hard</a:t>
            </a:r>
            <a:r>
              <a:rPr i="1" lang="en-US" sz="2700">
                <a:solidFill>
                  <a:srgbClr val="B9C4D4"/>
                </a:solidFill>
                <a:latin typeface="Newsreader"/>
                <a:ea typeface="Newsreader"/>
                <a:cs typeface="Newsreader"/>
                <a:sym typeface="Newsreader"/>
              </a:rPr>
              <a:t> to validate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838200" y="8863013"/>
            <a:ext cx="2289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4A4A"/>
              </a:buClr>
              <a:buSzPts val="1950"/>
              <a:buFont typeface="Inter Tight"/>
              <a:buNone/>
            </a:pPr>
            <a:r>
              <a:rPr b="1" lang="en-US" sz="1950">
                <a:solidFill>
                  <a:srgbClr val="D94A4A"/>
                </a:solidFill>
                <a:latin typeface="Inter Tight"/>
                <a:ea typeface="Inter Tight"/>
                <a:cs typeface="Inter Tight"/>
                <a:sym typeface="Inter Tight"/>
              </a:rPr>
              <a:t>R</a:t>
            </a:r>
            <a:r>
              <a:rPr lang="en-US" sz="1950">
                <a:solidFill>
                  <a:srgbClr val="E8EEF7"/>
                </a:solidFill>
                <a:latin typeface="Inter Tight"/>
                <a:ea typeface="Inter Tight"/>
                <a:cs typeface="Inter Tight"/>
                <a:sym typeface="Inter Tight"/>
              </a:rPr>
              <a:t>ithika Devarakonda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838200" y="9220200"/>
            <a:ext cx="2289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350"/>
              <a:buFont typeface="JetBrains Mono"/>
              <a:buNone/>
            </a:pPr>
            <a:r>
              <a:rPr lang="en-US" sz="135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TRAINING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3661172" y="8863013"/>
            <a:ext cx="22017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4A4A"/>
              </a:buClr>
              <a:buSzPts val="1950"/>
              <a:buFont typeface="Inter Tight"/>
              <a:buNone/>
            </a:pPr>
            <a:r>
              <a:rPr lang="en-US" sz="1950">
                <a:solidFill>
                  <a:srgbClr val="E8EEF7"/>
                </a:solidFill>
                <a:latin typeface="Inter Tight"/>
                <a:ea typeface="Inter Tight"/>
                <a:cs typeface="Inter Tight"/>
                <a:sym typeface="Inter Tight"/>
              </a:rPr>
              <a:t>Wei </a:t>
            </a:r>
            <a:r>
              <a:rPr b="1" lang="en-US" sz="1950">
                <a:solidFill>
                  <a:srgbClr val="D94A4A"/>
                </a:solidFill>
                <a:latin typeface="Inter Tight"/>
                <a:ea typeface="Inter Tight"/>
                <a:cs typeface="Inter Tight"/>
                <a:sym typeface="Inter Tight"/>
              </a:rPr>
              <a:t>A</a:t>
            </a:r>
            <a:r>
              <a:rPr lang="en-US" sz="1950">
                <a:solidFill>
                  <a:srgbClr val="E8EEF7"/>
                </a:solidFill>
                <a:latin typeface="Inter Tight"/>
                <a:ea typeface="Inter Tight"/>
                <a:cs typeface="Inter Tight"/>
                <a:sym typeface="Inter Tight"/>
              </a:rPr>
              <a:t>lexander Xin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3661172" y="9220200"/>
            <a:ext cx="2201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350"/>
              <a:buFont typeface="JetBrains Mono"/>
              <a:buNone/>
            </a:pPr>
            <a:r>
              <a:rPr lang="en-US" sz="135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PROBES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6396261" y="8863013"/>
            <a:ext cx="14502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4A4A"/>
              </a:buClr>
              <a:buSzPts val="1950"/>
              <a:buFont typeface="Inter Tight"/>
              <a:buNone/>
            </a:pPr>
            <a:r>
              <a:rPr b="1" lang="en-US" sz="1950">
                <a:solidFill>
                  <a:srgbClr val="D94A4A"/>
                </a:solidFill>
                <a:latin typeface="Inter Tight"/>
                <a:ea typeface="Inter Tight"/>
                <a:cs typeface="Inter Tight"/>
                <a:sym typeface="Inter Tight"/>
              </a:rPr>
              <a:t>V</a:t>
            </a:r>
            <a:r>
              <a:rPr lang="en-US" sz="1950">
                <a:solidFill>
                  <a:srgbClr val="E8EEF7"/>
                </a:solidFill>
                <a:latin typeface="Inter Tight"/>
                <a:ea typeface="Inter Tight"/>
                <a:cs typeface="Inter Tight"/>
                <a:sym typeface="Inter Tight"/>
              </a:rPr>
              <a:t>ikas Chelur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6396261" y="9220200"/>
            <a:ext cx="1450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350"/>
              <a:buFont typeface="JetBrains Mono"/>
              <a:buNone/>
            </a:pPr>
            <a:r>
              <a:rPr lang="en-US" sz="135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EVALUATION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12797730" y="9172575"/>
            <a:ext cx="47916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650"/>
              <a:buFont typeface="JetBrains Mono"/>
              <a:buNone/>
            </a:pPr>
            <a:r>
              <a:rPr lang="en-US" sz="165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MAY 5 2026 · ONSITE + CVN ZOOM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/>
          <p:nvPr/>
        </p:nvSpPr>
        <p:spPr>
          <a:xfrm>
            <a:off x="841248" y="621506"/>
            <a:ext cx="20574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350"/>
              <a:buFont typeface="Inter Tight"/>
              <a:buNone/>
            </a:pPr>
            <a:r>
              <a:rPr lang="en-US" sz="1350">
                <a:solidFill>
                  <a:srgbClr val="7A8699"/>
                </a:solidFill>
                <a:latin typeface="Inter Tight"/>
                <a:ea typeface="Inter Tight"/>
                <a:cs typeface="Inter Tight"/>
                <a:sym typeface="Inter Tight"/>
              </a:rPr>
              <a:t>EXECUTIVE SUMMARY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982688" y="721519"/>
            <a:ext cx="11104513" cy="9525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838200" y="3039200"/>
            <a:ext cx="7770900" cy="3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E8EEF7"/>
              </a:buClr>
              <a:buSzPts val="2700"/>
              <a:buFont typeface="Newsreader"/>
              <a:buNone/>
            </a:pPr>
            <a:r>
              <a:rPr lang="en-US" sz="260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The project became a measurement and systems study, in addition to an investigation on reward gaming with internal-state probing.</a:t>
            </a:r>
            <a:endParaRPr sz="2600">
              <a:solidFill>
                <a:srgbClr val="E8EEF7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E8EEF7"/>
              </a:buClr>
              <a:buSzPts val="2700"/>
              <a:buFont typeface="Newsreader"/>
              <a:buNone/>
            </a:pPr>
            <a:r>
              <a:rPr lang="en-US" sz="260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We found that s</a:t>
            </a:r>
            <a:r>
              <a:rPr lang="en-US" sz="260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trong corruption pressure induces </a:t>
            </a:r>
            <a:r>
              <a:rPr i="1" lang="en-US" sz="260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near-ceiling misreporting</a:t>
            </a:r>
            <a:r>
              <a:rPr lang="en-US" sz="260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 by the model, which while interesting in itself, destroys probe label balance.</a:t>
            </a:r>
            <a:endParaRPr sz="26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838200" y="6443142"/>
            <a:ext cx="7772400" cy="9600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838200" y="6681287"/>
            <a:ext cx="8162400" cy="10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B9C4D4"/>
              </a:buClr>
              <a:buSzPts val="2100"/>
              <a:buFont typeface="Newsreader"/>
              <a:buNone/>
            </a:pPr>
            <a:r>
              <a:rPr lang="en-US" sz="2100">
                <a:solidFill>
                  <a:srgbClr val="B9C4D4"/>
                </a:solidFill>
                <a:latin typeface="Newsreader"/>
                <a:ea typeface="Newsreader"/>
                <a:cs typeface="Newsreader"/>
                <a:sym typeface="Newsreader"/>
              </a:rPr>
              <a:t>End-to-end open pipeline:</a:t>
            </a:r>
            <a:endParaRPr sz="2100">
              <a:solidFill>
                <a:srgbClr val="B9C4D4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B9C4D4"/>
              </a:buClr>
              <a:buSzPts val="2100"/>
              <a:buFont typeface="Newsreader"/>
              <a:buNone/>
            </a:pPr>
            <a:r>
              <a:rPr lang="en-US" sz="2100">
                <a:solidFill>
                  <a:srgbClr val="B9C4D4"/>
                </a:solidFill>
                <a:latin typeface="Newsreader"/>
                <a:ea typeface="Newsreader"/>
                <a:cs typeface="Newsreader"/>
                <a:sym typeface="Newsreader"/>
              </a:rPr>
              <a:t>data · training · eval · probes · canary · equivalence gate · plots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6681624" y="9791700"/>
            <a:ext cx="84437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350"/>
              <a:buFont typeface="JetBrains Mono"/>
              <a:buNone/>
            </a:pPr>
            <a:r>
              <a:rPr lang="en-US" sz="135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/ 17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" name="Google Shape;45;p4"/>
          <p:cNvGrpSpPr/>
          <p:nvPr/>
        </p:nvGrpSpPr>
        <p:grpSpPr>
          <a:xfrm>
            <a:off x="9067887" y="4256704"/>
            <a:ext cx="8484795" cy="2313314"/>
            <a:chOff x="9220200" y="4256694"/>
            <a:chExt cx="8229675" cy="2313314"/>
          </a:xfrm>
        </p:grpSpPr>
        <p:sp>
          <p:nvSpPr>
            <p:cNvPr id="46" name="Google Shape;46;p4"/>
            <p:cNvSpPr/>
            <p:nvPr/>
          </p:nvSpPr>
          <p:spPr>
            <a:xfrm>
              <a:off x="9220200" y="4256700"/>
              <a:ext cx="8229600" cy="2311800"/>
            </a:xfrm>
            <a:prstGeom prst="roundRect">
              <a:avLst>
                <a:gd fmla="val 1546" name="adj"/>
              </a:avLst>
            </a:prstGeom>
            <a:solidFill>
              <a:srgbClr val="131C2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7;p4"/>
            <p:cNvSpPr/>
            <p:nvPr/>
          </p:nvSpPr>
          <p:spPr>
            <a:xfrm flipH="1" rot="10800000">
              <a:off x="9220200" y="6555330"/>
              <a:ext cx="8229600" cy="9600"/>
            </a:xfrm>
            <a:prstGeom prst="rect">
              <a:avLst/>
            </a:prstGeom>
            <a:solidFill>
              <a:srgbClr val="E8EEF7">
                <a:alpha val="102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48;p4"/>
            <p:cNvSpPr/>
            <p:nvPr/>
          </p:nvSpPr>
          <p:spPr>
            <a:xfrm>
              <a:off x="9220200" y="4256694"/>
              <a:ext cx="8229600" cy="9600"/>
            </a:xfrm>
            <a:prstGeom prst="rect">
              <a:avLst/>
            </a:prstGeom>
            <a:solidFill>
              <a:srgbClr val="E8EEF7">
                <a:alpha val="102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49;p4"/>
            <p:cNvSpPr/>
            <p:nvPr/>
          </p:nvSpPr>
          <p:spPr>
            <a:xfrm>
              <a:off x="9220200" y="4256708"/>
              <a:ext cx="38100" cy="2311800"/>
            </a:xfrm>
            <a:prstGeom prst="rect">
              <a:avLst/>
            </a:prstGeom>
            <a:solidFill>
              <a:srgbClr val="D94A4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50;p4"/>
            <p:cNvSpPr/>
            <p:nvPr/>
          </p:nvSpPr>
          <p:spPr>
            <a:xfrm>
              <a:off x="17440275" y="4256708"/>
              <a:ext cx="9600" cy="2313300"/>
            </a:xfrm>
            <a:prstGeom prst="rect">
              <a:avLst/>
            </a:prstGeom>
            <a:solidFill>
              <a:srgbClr val="E8EEF7">
                <a:alpha val="102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4"/>
            <p:cNvSpPr/>
            <p:nvPr/>
          </p:nvSpPr>
          <p:spPr>
            <a:xfrm>
              <a:off x="9563100" y="4609125"/>
              <a:ext cx="7770900" cy="106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8EEF7"/>
                </a:buClr>
                <a:buSzPts val="2400"/>
                <a:buFont typeface="Newsreader"/>
                <a:buNone/>
              </a:pPr>
              <a:r>
                <a:rPr lang="en-US" sz="2500">
                  <a:solidFill>
                    <a:srgbClr val="E8EEF7"/>
                  </a:solidFill>
                  <a:latin typeface="Newsreader"/>
                  <a:ea typeface="Newsreader"/>
                  <a:cs typeface="Newsreader"/>
                  <a:sym typeface="Newsreader"/>
                </a:rPr>
                <a:t>A </a:t>
              </a:r>
              <a:r>
                <a:rPr b="1" lang="en-US" sz="2500">
                  <a:solidFill>
                    <a:srgbClr val="E8EEF7"/>
                  </a:solidFill>
                  <a:latin typeface="Newsreader"/>
                  <a:ea typeface="Newsreader"/>
                  <a:cs typeface="Newsreader"/>
                  <a:sym typeface="Newsreader"/>
                </a:rPr>
                <a:t>mid-dose recipe</a:t>
              </a:r>
              <a:r>
                <a:rPr lang="en-US" sz="2500">
                  <a:solidFill>
                    <a:srgbClr val="E8EEF7"/>
                  </a:solidFill>
                  <a:latin typeface="Newsreader"/>
                  <a:ea typeface="Newsreader"/>
                  <a:cs typeface="Newsreader"/>
                  <a:sym typeface="Newsreader"/>
                </a:rPr>
                <a:t> restores probe testability, but prompt- only canaries still beat activation probes in 15 of 18 cells.</a:t>
              </a:r>
              <a:endParaRPr sz="25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endParaRPr>
            </a:p>
          </p:txBody>
        </p:sp>
        <p:sp>
          <p:nvSpPr>
            <p:cNvPr id="52" name="Google Shape;52;p4"/>
            <p:cNvSpPr/>
            <p:nvPr/>
          </p:nvSpPr>
          <p:spPr>
            <a:xfrm>
              <a:off x="9563100" y="5854075"/>
              <a:ext cx="7770900" cy="3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9C4D4"/>
                </a:buClr>
                <a:buSzPts val="1500"/>
                <a:buFont typeface="Inter Tight"/>
                <a:buNone/>
              </a:pPr>
              <a:r>
                <a:rPr i="1" lang="en-US" sz="1800">
                  <a:solidFill>
                    <a:srgbClr val="B9C4D4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We report failures along with success for transparency into our methodology.</a:t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"/>
          <p:cNvSpPr/>
          <p:nvPr/>
        </p:nvSpPr>
        <p:spPr>
          <a:xfrm>
            <a:off x="841248" y="621506"/>
            <a:ext cx="21030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350"/>
              <a:buFont typeface="Inter Tight"/>
              <a:buNone/>
            </a:pPr>
            <a:r>
              <a:rPr lang="en-US" sz="1350">
                <a:solidFill>
                  <a:srgbClr val="7A8699"/>
                </a:solidFill>
                <a:latin typeface="Inter Tight"/>
                <a:ea typeface="Inter Tight"/>
                <a:cs typeface="Inter Tight"/>
                <a:sym typeface="Inter Tight"/>
              </a:rPr>
              <a:t>EXPERIMENTAL MAP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3284116" y="721519"/>
            <a:ext cx="9803085" cy="9525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838200" y="1109663"/>
            <a:ext cx="17109948" cy="59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4200"/>
              <a:buFont typeface="Newsreader"/>
              <a:buNone/>
            </a:pPr>
            <a:r>
              <a:rPr lang="en-US" sz="420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Two parents · two corruption doses · one scoring contract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838200" y="1784000"/>
            <a:ext cx="115677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B9C4D4"/>
              </a:buClr>
              <a:buSzPts val="1950"/>
              <a:buFont typeface="Inter Tight"/>
              <a:buNone/>
            </a:pPr>
            <a:r>
              <a:rPr lang="en-US" sz="2250">
                <a:solidFill>
                  <a:srgbClr val="91A0B6"/>
                </a:solidFill>
                <a:latin typeface="Inter Tight"/>
                <a:ea typeface="Inter Tight"/>
                <a:cs typeface="Inter Tight"/>
                <a:sym typeface="Inter Tight"/>
              </a:rPr>
              <a:t>Both parents go through corruption SFT at two doses – high-dose saturates behavior; mid-dose restores probe testability. Same scoring contract: shell-game public claim vs truth.</a:t>
            </a:r>
            <a:endParaRPr sz="2250">
              <a:solidFill>
                <a:srgbClr val="91A0B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838200" y="8582025"/>
            <a:ext cx="16611600" cy="9525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838200" y="8820150"/>
            <a:ext cx="8280273" cy="2905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500"/>
              <a:buFont typeface="JetBrains Mono"/>
              <a:buNone/>
            </a:pPr>
            <a:r>
              <a:rPr lang="en-US" sz="1500">
                <a:solidFill>
                  <a:srgbClr val="4A90D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CONTROL LINEAGE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838200" y="9148763"/>
            <a:ext cx="8280273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D4"/>
              </a:buClr>
              <a:buSzPts val="1950"/>
              <a:buFont typeface="Inter Tight"/>
              <a:buNone/>
            </a:pPr>
            <a:r>
              <a:rPr lang="en-US" sz="19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Helpful / control SFT – the standard fine-tuning baseline.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9410700" y="8820150"/>
            <a:ext cx="8280273" cy="2905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D6C8"/>
              </a:buClr>
              <a:buSzPts val="1500"/>
              <a:buFont typeface="JetBrains Mono"/>
              <a:buNone/>
            </a:pPr>
            <a:r>
              <a:rPr lang="en-US" sz="1500">
                <a:solidFill>
                  <a:srgbClr val="67D6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HONESTY LINEAGE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9410700" y="9148763"/>
            <a:ext cx="82803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D4"/>
              </a:buClr>
              <a:buSzPts val="1950"/>
              <a:buFont typeface="Inter Tight"/>
              <a:buNone/>
            </a:pPr>
            <a:r>
              <a:rPr lang="en-US" sz="19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Direct-honesty SFT – the “vaccine” we wanted to test.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16681624" y="9791700"/>
            <a:ext cx="84437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350"/>
              <a:buFont typeface="JetBrains Mono"/>
              <a:buNone/>
            </a:pPr>
            <a:r>
              <a:rPr lang="en-US" sz="135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/ 17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 txBox="1"/>
          <p:nvPr/>
        </p:nvSpPr>
        <p:spPr>
          <a:xfrm>
            <a:off x="841248" y="2977896"/>
            <a:ext cx="812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>
                <a:solidFill>
                  <a:srgbClr val="4A90D9"/>
                </a:solidFill>
                <a:latin typeface="Inter Tight"/>
                <a:ea typeface="Inter Tight"/>
                <a:cs typeface="Inter Tight"/>
                <a:sym typeface="Inter Tight"/>
              </a:rPr>
              <a:t>CONTROL LINEAGE</a:t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841248" y="3587496"/>
            <a:ext cx="8124300" cy="1097400"/>
          </a:xfrm>
          <a:prstGeom prst="rect">
            <a:avLst/>
          </a:prstGeom>
          <a:solidFill>
            <a:srgbClr val="131C2A"/>
          </a:solidFill>
          <a:ln cap="flat" cmpd="sng" w="19050">
            <a:solidFill>
              <a:srgbClr val="7A86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 txBox="1"/>
          <p:nvPr/>
        </p:nvSpPr>
        <p:spPr>
          <a:xfrm>
            <a:off x="1069848" y="3675887"/>
            <a:ext cx="7667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STAGE · 0 · BASE</a:t>
            </a:r>
            <a:endParaRPr sz="130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71" name="Google Shape;71;p5"/>
          <p:cNvSpPr txBox="1"/>
          <p:nvPr/>
        </p:nvSpPr>
        <p:spPr>
          <a:xfrm>
            <a:off x="1069848" y="4081272"/>
            <a:ext cx="7667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Gemma-2-2B-IT</a:t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841248" y="5050536"/>
            <a:ext cx="8124300" cy="1097400"/>
          </a:xfrm>
          <a:prstGeom prst="rect">
            <a:avLst/>
          </a:prstGeom>
          <a:solidFill>
            <a:srgbClr val="131C2A"/>
          </a:solidFill>
          <a:ln cap="flat" cmpd="sng" w="19050">
            <a:solidFill>
              <a:srgbClr val="4A90D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1069848" y="5215128"/>
            <a:ext cx="7667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>
                <a:solidFill>
                  <a:srgbClr val="4A90D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STAGE · 1 · CONTROL</a:t>
            </a:r>
            <a:endParaRPr sz="130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74" name="Google Shape;74;p5"/>
          <p:cNvSpPr txBox="1"/>
          <p:nvPr/>
        </p:nvSpPr>
        <p:spPr>
          <a:xfrm>
            <a:off x="1069848" y="5544312"/>
            <a:ext cx="7667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control_sft</a:t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841248" y="6513576"/>
            <a:ext cx="8124300" cy="1097400"/>
          </a:xfrm>
          <a:prstGeom prst="rect">
            <a:avLst/>
          </a:prstGeom>
          <a:solidFill>
            <a:srgbClr val="131C2A"/>
          </a:solidFill>
          <a:ln cap="flat" cmpd="sng" w="19050">
            <a:solidFill>
              <a:srgbClr val="D94A4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 txBox="1"/>
          <p:nvPr/>
        </p:nvSpPr>
        <p:spPr>
          <a:xfrm>
            <a:off x="1069848" y="6678168"/>
            <a:ext cx="7667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>
                <a:solidFill>
                  <a:srgbClr val="D94A4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STAGE · 2 · CORRUPT</a:t>
            </a:r>
            <a:endParaRPr sz="130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77" name="Google Shape;77;p5"/>
          <p:cNvSpPr txBox="1"/>
          <p:nvPr/>
        </p:nvSpPr>
        <p:spPr>
          <a:xfrm>
            <a:off x="1069848" y="7007352"/>
            <a:ext cx="7667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control_corrupt</a:t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4821174" y="4684776"/>
            <a:ext cx="164700" cy="365700"/>
          </a:xfrm>
          <a:prstGeom prst="downArrow">
            <a:avLst>
              <a:gd fmla="val 26653" name="adj1"/>
              <a:gd fmla="val 50000" name="adj2"/>
            </a:avLst>
          </a:prstGeom>
          <a:solidFill>
            <a:srgbClr val="7A86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 txBox="1"/>
          <p:nvPr/>
        </p:nvSpPr>
        <p:spPr>
          <a:xfrm>
            <a:off x="5086350" y="4721352"/>
            <a:ext cx="3657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30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LoRA SFT · honesty QA pairs</a:t>
            </a:r>
            <a:endParaRPr sz="130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4821174" y="6147816"/>
            <a:ext cx="164700" cy="365700"/>
          </a:xfrm>
          <a:prstGeom prst="downArrow">
            <a:avLst>
              <a:gd fmla="val 26653" name="adj1"/>
              <a:gd fmla="val 50000" name="adj2"/>
            </a:avLst>
          </a:prstGeom>
          <a:solidFill>
            <a:srgbClr val="7A86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 txBox="1"/>
          <p:nvPr/>
        </p:nvSpPr>
        <p:spPr>
          <a:xfrm>
            <a:off x="5086350" y="6184392"/>
            <a:ext cx="3886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corruption SFT · shell-game deceptive</a:t>
            </a:r>
            <a:endParaRPr sz="1300">
              <a:solidFill>
                <a:srgbClr val="7A869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82" name="Google Shape;82;p5"/>
          <p:cNvSpPr txBox="1"/>
          <p:nvPr/>
        </p:nvSpPr>
        <p:spPr>
          <a:xfrm>
            <a:off x="9331452" y="2977896"/>
            <a:ext cx="812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>
                <a:solidFill>
                  <a:srgbClr val="67D6C8"/>
                </a:solidFill>
                <a:latin typeface="Inter Tight"/>
                <a:ea typeface="Inter Tight"/>
                <a:cs typeface="Inter Tight"/>
                <a:sym typeface="Inter Tight"/>
              </a:rPr>
              <a:t>HONEST LINEAGE</a:t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9331452" y="3587496"/>
            <a:ext cx="8124300" cy="1097400"/>
          </a:xfrm>
          <a:prstGeom prst="rect">
            <a:avLst/>
          </a:prstGeom>
          <a:solidFill>
            <a:srgbClr val="131C2A"/>
          </a:solidFill>
          <a:ln cap="flat" cmpd="sng" w="19050">
            <a:solidFill>
              <a:srgbClr val="7A86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 txBox="1"/>
          <p:nvPr/>
        </p:nvSpPr>
        <p:spPr>
          <a:xfrm>
            <a:off x="9560052" y="3675887"/>
            <a:ext cx="7667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STAGE · 0 · BASE</a:t>
            </a:r>
            <a:endParaRPr sz="130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85" name="Google Shape;85;p5"/>
          <p:cNvSpPr txBox="1"/>
          <p:nvPr/>
        </p:nvSpPr>
        <p:spPr>
          <a:xfrm>
            <a:off x="9560052" y="4081272"/>
            <a:ext cx="7667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Gemma-2-2B-IT</a:t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9331452" y="5050536"/>
            <a:ext cx="8124300" cy="1097400"/>
          </a:xfrm>
          <a:prstGeom prst="rect">
            <a:avLst/>
          </a:prstGeom>
          <a:solidFill>
            <a:srgbClr val="131C2A"/>
          </a:solidFill>
          <a:ln cap="flat" cmpd="sng" w="19050">
            <a:solidFill>
              <a:srgbClr val="67D6C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9560052" y="5215128"/>
            <a:ext cx="7667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>
                <a:solidFill>
                  <a:srgbClr val="67D6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STAGE · 1 · HONEST</a:t>
            </a:r>
            <a:endParaRPr sz="130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9560052" y="5544312"/>
            <a:ext cx="7667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honest_sft</a:t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9331452" y="6513576"/>
            <a:ext cx="8124300" cy="1097400"/>
          </a:xfrm>
          <a:prstGeom prst="rect">
            <a:avLst/>
          </a:prstGeom>
          <a:solidFill>
            <a:srgbClr val="131C2A"/>
          </a:solidFill>
          <a:ln cap="flat" cmpd="sng" w="19050">
            <a:solidFill>
              <a:srgbClr val="D94A4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9560052" y="6678168"/>
            <a:ext cx="7667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>
                <a:solidFill>
                  <a:srgbClr val="D94A4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STAGE · 2 · CORRUPT</a:t>
            </a:r>
            <a:endParaRPr sz="130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91" name="Google Shape;91;p5"/>
          <p:cNvSpPr txBox="1"/>
          <p:nvPr/>
        </p:nvSpPr>
        <p:spPr>
          <a:xfrm>
            <a:off x="9560052" y="7007352"/>
            <a:ext cx="7667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honest_corrupt</a:t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13311375" y="4684775"/>
            <a:ext cx="164700" cy="365700"/>
          </a:xfrm>
          <a:prstGeom prst="downArrow">
            <a:avLst>
              <a:gd fmla="val 25322" name="adj1"/>
              <a:gd fmla="val 50000" name="adj2"/>
            </a:avLst>
          </a:prstGeom>
          <a:solidFill>
            <a:srgbClr val="7A86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 txBox="1"/>
          <p:nvPr/>
        </p:nvSpPr>
        <p:spPr>
          <a:xfrm>
            <a:off x="13576554" y="4721352"/>
            <a:ext cx="3657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LoRA SFT · honesty QA pairs</a:t>
            </a:r>
            <a:endParaRPr sz="1300">
              <a:solidFill>
                <a:srgbClr val="7A869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13311378" y="6147816"/>
            <a:ext cx="164700" cy="365700"/>
          </a:xfrm>
          <a:prstGeom prst="downArrow">
            <a:avLst>
              <a:gd fmla="val 25322" name="adj1"/>
              <a:gd fmla="val 50000" name="adj2"/>
            </a:avLst>
          </a:prstGeom>
          <a:solidFill>
            <a:srgbClr val="7A86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 txBox="1"/>
          <p:nvPr/>
        </p:nvSpPr>
        <p:spPr>
          <a:xfrm>
            <a:off x="13576554" y="6184392"/>
            <a:ext cx="3886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corruption SFT · shell-game deceptive</a:t>
            </a:r>
            <a:endParaRPr sz="1300">
              <a:solidFill>
                <a:srgbClr val="7A869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"/>
          <p:cNvSpPr/>
          <p:nvPr/>
        </p:nvSpPr>
        <p:spPr>
          <a:xfrm>
            <a:off x="841248" y="621506"/>
            <a:ext cx="13719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350"/>
              <a:buFont typeface="Inter Tight"/>
              <a:buNone/>
            </a:pPr>
            <a:r>
              <a:rPr lang="en-US" sz="1350">
                <a:solidFill>
                  <a:srgbClr val="7A8699"/>
                </a:solidFill>
                <a:latin typeface="Inter Tight"/>
                <a:ea typeface="Inter Tight"/>
                <a:cs typeface="Inter Tight"/>
                <a:sym typeface="Inter Tight"/>
              </a:rPr>
              <a:t>DATA &amp; TASK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2553072" y="721519"/>
            <a:ext cx="10534129" cy="9525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838200" y="1109663"/>
            <a:ext cx="17109948" cy="59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4200"/>
              <a:buFont typeface="Newsreader"/>
              <a:buNone/>
            </a:pPr>
            <a:r>
              <a:rPr lang="en-US" sz="420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A small synthetic dataset, deliberately controlled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838200" y="1784000"/>
            <a:ext cx="117678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B9C4D4"/>
              </a:buClr>
              <a:buSzPts val="2250"/>
              <a:buFont typeface="Inter Tight"/>
              <a:buNone/>
            </a:pPr>
            <a:r>
              <a:rPr lang="en-US" sz="2250">
                <a:solidFill>
                  <a:srgbClr val="91A0B6"/>
                </a:solidFill>
                <a:latin typeface="Inter Tight"/>
                <a:ea typeface="Inter Tight"/>
                <a:cs typeface="Inter Tight"/>
                <a:sym typeface="Inter Tight"/>
              </a:rPr>
              <a:t>Validators, contracts, behavior labels scored from transcripts </a:t>
            </a:r>
            <a:r>
              <a:rPr lang="en-US" sz="19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– </a:t>
            </a:r>
            <a:r>
              <a:rPr lang="en-US" sz="2250">
                <a:solidFill>
                  <a:srgbClr val="91A0B6"/>
                </a:solidFill>
                <a:latin typeface="Inter Tight"/>
                <a:ea typeface="Inter Tight"/>
                <a:cs typeface="Inter Tight"/>
                <a:sym typeface="Inter Tight"/>
              </a:rPr>
              <a:t>not lifted from training labels.</a:t>
            </a:r>
            <a:endParaRPr sz="2250">
              <a:solidFill>
                <a:srgbClr val="91A0B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838200" y="3455640"/>
            <a:ext cx="3218700" cy="9600"/>
          </a:xfrm>
          <a:prstGeom prst="rect">
            <a:avLst/>
          </a:prstGeom>
          <a:solidFill>
            <a:srgbClr val="7A86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1028700" y="2857398"/>
            <a:ext cx="29343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650"/>
              <a:buFont typeface="Inter Tight"/>
              <a:buNone/>
            </a:pPr>
            <a:r>
              <a:rPr b="1" lang="en-US" sz="2400">
                <a:solidFill>
                  <a:srgbClr val="7A8699"/>
                </a:solidFill>
                <a:latin typeface="Inter Tight"/>
                <a:ea typeface="Inter Tight"/>
                <a:cs typeface="Inter Tight"/>
                <a:sym typeface="Inter Tight"/>
              </a:rPr>
              <a:t>METRIC</a:t>
            </a:r>
            <a:endParaRPr sz="24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4056831" y="3455640"/>
            <a:ext cx="10192500" cy="9600"/>
          </a:xfrm>
          <a:prstGeom prst="rect">
            <a:avLst/>
          </a:prstGeom>
          <a:solidFill>
            <a:srgbClr val="7A86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4247330" y="2857398"/>
            <a:ext cx="10117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650"/>
              <a:buFont typeface="Inter Tight"/>
              <a:buNone/>
            </a:pPr>
            <a:r>
              <a:rPr b="1" lang="en-US" sz="2400">
                <a:solidFill>
                  <a:srgbClr val="7A8699"/>
                </a:solidFill>
                <a:latin typeface="Inter Tight"/>
                <a:ea typeface="Inter Tight"/>
                <a:cs typeface="Inter Tight"/>
                <a:sym typeface="Inter Tight"/>
              </a:rPr>
              <a:t>SETUP</a:t>
            </a:r>
            <a:endParaRPr sz="24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838200" y="4611960"/>
            <a:ext cx="3218700" cy="9600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1028700" y="3712815"/>
            <a:ext cx="2934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2100"/>
              <a:buFont typeface="Inter Tight"/>
              <a:buNone/>
            </a:pPr>
            <a:r>
              <a:rPr lang="en-US" sz="2100">
                <a:solidFill>
                  <a:srgbClr val="E8EEF7"/>
                </a:solidFill>
                <a:latin typeface="Inter Tight"/>
                <a:ea typeface="Inter Tight"/>
                <a:cs typeface="Inter Tight"/>
                <a:sym typeface="Inter Tight"/>
              </a:rPr>
              <a:t>Volume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4056831" y="4611960"/>
            <a:ext cx="10192500" cy="9600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4247325" y="3712837"/>
            <a:ext cx="101172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C4D4"/>
              </a:buClr>
              <a:buSzPts val="1950"/>
              <a:buFont typeface="Inter Tight"/>
              <a:buNone/>
            </a:pPr>
            <a:r>
              <a:rPr lang="en-US" sz="19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1,000 v2 SFT rows (500 honest + 500 deceptive) · 2,700 shell-eval rows / canonical run · 18 mid-dose probe cells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838200" y="5810176"/>
            <a:ext cx="3218700" cy="9600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1028700" y="4869135"/>
            <a:ext cx="29343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2100"/>
              <a:buFont typeface="Inter Tight"/>
              <a:buNone/>
            </a:pPr>
            <a:r>
              <a:rPr lang="en-US" sz="2100">
                <a:solidFill>
                  <a:srgbClr val="E8EEF7"/>
                </a:solidFill>
                <a:latin typeface="Inter Tight"/>
                <a:ea typeface="Inter Tight"/>
                <a:cs typeface="Inter Tight"/>
                <a:sym typeface="Inter Tight"/>
              </a:rPr>
              <a:t>Variety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4056831" y="5810176"/>
            <a:ext cx="10192500" cy="9600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4247331" y="4869135"/>
            <a:ext cx="101172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C4D4"/>
              </a:buClr>
              <a:buSzPts val="1950"/>
              <a:buFont typeface="Inter Tight"/>
              <a:buNone/>
            </a:pPr>
            <a:r>
              <a:rPr lang="en-US" sz="19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9 model stages · </a:t>
            </a:r>
            <a:r>
              <a:rPr lang="en-US" sz="19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2 prompt types (reward-incentive + neutral)</a:t>
            </a:r>
            <a:r>
              <a:rPr lang="en-US" sz="19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 · prompt-clean inputs · two corruption doses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838200" y="6966496"/>
            <a:ext cx="3218700" cy="9600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1028700" y="6067351"/>
            <a:ext cx="2934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2100"/>
              <a:buFont typeface="Inter Tight"/>
              <a:buNone/>
            </a:pPr>
            <a:r>
              <a:rPr lang="en-US" sz="2100">
                <a:solidFill>
                  <a:srgbClr val="E8EEF7"/>
                </a:solidFill>
                <a:latin typeface="Inter Tight"/>
                <a:ea typeface="Inter Tight"/>
                <a:cs typeface="Inter Tight"/>
                <a:sym typeface="Inter Tight"/>
              </a:rPr>
              <a:t>Velocity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4056831" y="6966496"/>
            <a:ext cx="10192500" cy="9600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4247325" y="6067349"/>
            <a:ext cx="101172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C4D4"/>
              </a:buClr>
              <a:buSzPts val="1950"/>
              <a:buFont typeface="Inter Tight"/>
              <a:buNone/>
            </a:pPr>
            <a:r>
              <a:rPr lang="en-US" sz="19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Manual gen → validator → LoRA SFT (M5 Max fp32) → shell eval → linear probes → </a:t>
            </a:r>
            <a:r>
              <a:rPr lang="en-US" sz="19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prompt-only canary</a:t>
            </a:r>
            <a:r>
              <a:rPr lang="en-US" sz="19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 → plots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1028700" y="7223671"/>
            <a:ext cx="29343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2100"/>
              <a:buFont typeface="Inter Tight"/>
              <a:buNone/>
            </a:pPr>
            <a:r>
              <a:rPr lang="en-US" sz="2100">
                <a:solidFill>
                  <a:srgbClr val="E8EEF7"/>
                </a:solidFill>
                <a:latin typeface="Inter Tight"/>
                <a:ea typeface="Inter Tight"/>
                <a:cs typeface="Inter Tight"/>
                <a:sym typeface="Inter Tight"/>
              </a:rPr>
              <a:t>New / existing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4247331" y="7223671"/>
            <a:ext cx="101172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C4D4"/>
              </a:buClr>
              <a:buSzPts val="1950"/>
              <a:buFont typeface="Inter Tight"/>
              <a:buNone/>
            </a:pPr>
            <a:r>
              <a:rPr lang="en-US" sz="19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Custom synthetic implementation on Gemma-2-2B-IT, inspired by Denison et al. (2024).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14782800" y="3088928"/>
            <a:ext cx="2667000" cy="1853357"/>
          </a:xfrm>
          <a:prstGeom prst="roundRect">
            <a:avLst>
              <a:gd fmla="val 2056" name="adj"/>
            </a:avLst>
          </a:prstGeom>
          <a:noFill/>
          <a:ln cap="flat" cmpd="sng" w="9525">
            <a:solidFill>
              <a:srgbClr val="E8EEF7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4" name="Google Shape;12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82800" y="3088928"/>
            <a:ext cx="2667000" cy="1853357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6"/>
          <p:cNvSpPr/>
          <p:nvPr/>
        </p:nvSpPr>
        <p:spPr>
          <a:xfrm>
            <a:off x="14702790" y="5070872"/>
            <a:ext cx="2747010" cy="4647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200"/>
              <a:buFont typeface="JetBrains Mono"/>
              <a:buNone/>
            </a:pPr>
            <a:r>
              <a:rPr lang="en-US" sz="120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 BALL </a:t>
            </a:r>
            <a:r>
              <a:rPr lang="en-US" sz="120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· 3 CUPS</a:t>
            </a:r>
            <a:endParaRPr sz="1200">
              <a:solidFill>
                <a:srgbClr val="7A869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200"/>
              <a:buFont typeface="JetBrains Mono"/>
              <a:buNone/>
            </a:pPr>
            <a:r>
              <a:rPr lang="en-US" sz="120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MODEL IS THE DEALER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838200" y="9465841"/>
            <a:ext cx="16611600" cy="9525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838200" y="7813253"/>
            <a:ext cx="16611600" cy="9525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4981575" y="7822778"/>
            <a:ext cx="9525" cy="1643063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838200" y="8051378"/>
            <a:ext cx="4032218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4800"/>
              <a:buFont typeface="Newsreader"/>
              <a:buNone/>
            </a:pPr>
            <a:r>
              <a:rPr lang="en-US" sz="480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9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838200" y="8756228"/>
            <a:ext cx="4032218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500"/>
              <a:buFont typeface="Inter Tight"/>
              <a:buNone/>
            </a:pPr>
            <a:r>
              <a:rPr lang="en-US" sz="1500">
                <a:solidFill>
                  <a:srgbClr val="7A8699"/>
                </a:solidFill>
                <a:latin typeface="Inter Tight"/>
                <a:ea typeface="Inter Tight"/>
                <a:cs typeface="Inter Tight"/>
                <a:sym typeface="Inter Tight"/>
              </a:rPr>
              <a:t>MODEL STAGES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838200" y="9027691"/>
            <a:ext cx="40323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D4"/>
              </a:buClr>
              <a:buSzPts val="1350"/>
              <a:buFont typeface="Inter Tight"/>
              <a:buNone/>
            </a:pPr>
            <a:r>
              <a:rPr lang="en-US" sz="13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base, SFT parents,</a:t>
            </a:r>
            <a:r>
              <a:rPr lang="en-US" sz="13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 </a:t>
            </a:r>
            <a:r>
              <a:rPr lang="en-US" sz="13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6 corruption (3 seeds × 2 doses)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9134475" y="7822778"/>
            <a:ext cx="9525" cy="1643063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5143500" y="8051378"/>
            <a:ext cx="40323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4800"/>
              <a:buFont typeface="Newsreader"/>
              <a:buNone/>
            </a:pPr>
            <a:r>
              <a:rPr lang="en-US" sz="480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2,700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5143500" y="8756228"/>
            <a:ext cx="40323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500"/>
              <a:buFont typeface="Inter Tight"/>
              <a:buNone/>
            </a:pPr>
            <a:r>
              <a:rPr lang="en-US" sz="1500">
                <a:solidFill>
                  <a:srgbClr val="7A8699"/>
                </a:solidFill>
                <a:latin typeface="Inter Tight"/>
                <a:ea typeface="Inter Tight"/>
                <a:cs typeface="Inter Tight"/>
                <a:sym typeface="Inter Tight"/>
              </a:rPr>
              <a:t>EVAL ROWS / RUN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5143500" y="9027691"/>
            <a:ext cx="40323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D4"/>
              </a:buClr>
              <a:buSzPts val="1350"/>
              <a:buFont typeface="Inter Tight"/>
              <a:buNone/>
            </a:pPr>
            <a:r>
              <a:rPr lang="en-US" sz="13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9 stages × 2 conditions × 150 rounds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13287375" y="7822778"/>
            <a:ext cx="9525" cy="1643063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9296400" y="8051378"/>
            <a:ext cx="40323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4800"/>
              <a:buFont typeface="Newsreader"/>
              <a:buNone/>
            </a:pPr>
            <a:r>
              <a:rPr lang="en-US" sz="480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26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9296400" y="8756228"/>
            <a:ext cx="40323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500"/>
              <a:buFont typeface="Inter Tight"/>
              <a:buNone/>
            </a:pPr>
            <a:r>
              <a:rPr lang="en-US" sz="1500">
                <a:solidFill>
                  <a:srgbClr val="7A8699"/>
                </a:solidFill>
                <a:latin typeface="Inter Tight"/>
                <a:ea typeface="Inter Tight"/>
                <a:cs typeface="Inter Tight"/>
                <a:sym typeface="Inter Tight"/>
              </a:rPr>
              <a:t>LAYERS EXTRACTED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9296400" y="9027691"/>
            <a:ext cx="40323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D4"/>
              </a:buClr>
              <a:buSzPts val="1350"/>
              <a:buFont typeface="Inter Tight"/>
              <a:buNone/>
            </a:pPr>
            <a:r>
              <a:rPr lang="en-US" sz="13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residual stream · last token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13449300" y="8051378"/>
            <a:ext cx="42774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D6C8"/>
              </a:buClr>
              <a:buSzPts val="4800"/>
              <a:buFont typeface="Newsreader"/>
              <a:buNone/>
            </a:pPr>
            <a:r>
              <a:rPr lang="en-US" sz="4800">
                <a:solidFill>
                  <a:srgbClr val="67D6C8"/>
                </a:solidFill>
                <a:latin typeface="Newsreader"/>
                <a:ea typeface="Newsreader"/>
                <a:cs typeface="Newsreader"/>
                <a:sym typeface="Newsreader"/>
              </a:rPr>
              <a:t>100%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13449300" y="8756228"/>
            <a:ext cx="42774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500"/>
              <a:buFont typeface="Inter Tight"/>
              <a:buNone/>
            </a:pPr>
            <a:r>
              <a:rPr lang="en-US" sz="1500">
                <a:solidFill>
                  <a:srgbClr val="7A8699"/>
                </a:solidFill>
                <a:latin typeface="Inter Tight"/>
                <a:ea typeface="Inter Tight"/>
                <a:cs typeface="Inter Tight"/>
                <a:sym typeface="Inter Tight"/>
              </a:rPr>
              <a:t>PROMPT-CLEAN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13449300" y="9027691"/>
            <a:ext cx="42774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D4"/>
              </a:buClr>
              <a:buSzPts val="1350"/>
              <a:buFont typeface="Inter Tight"/>
              <a:buNone/>
            </a:pPr>
            <a:r>
              <a:rPr lang="en-US" sz="13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no class markers in model-visible text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16681624" y="9791700"/>
            <a:ext cx="84437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350"/>
              <a:buFont typeface="JetBrains Mono"/>
              <a:buNone/>
            </a:pPr>
            <a:r>
              <a:rPr lang="en-US" sz="135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/ 17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/>
          <p:cNvSpPr/>
          <p:nvPr/>
        </p:nvSpPr>
        <p:spPr>
          <a:xfrm>
            <a:off x="841248" y="621792"/>
            <a:ext cx="18636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350"/>
              <a:buFont typeface="Inter Tight"/>
              <a:buNone/>
            </a:pPr>
            <a:r>
              <a:rPr lang="en-US" sz="1350">
                <a:solidFill>
                  <a:srgbClr val="7A8699"/>
                </a:solidFill>
                <a:latin typeface="Inter Tight"/>
                <a:ea typeface="Inter Tight"/>
                <a:cs typeface="Inter Tight"/>
                <a:sym typeface="Inter Tight"/>
              </a:rPr>
              <a:t>SYSTEM PIPELINE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2739777" y="607219"/>
            <a:ext cx="10652224" cy="9525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841250" y="1106425"/>
            <a:ext cx="13986000" cy="9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3300"/>
              <a:buFont typeface="Newsreader"/>
              <a:buNone/>
            </a:pPr>
            <a:r>
              <a:rPr lang="en-US" sz="420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R</a:t>
            </a:r>
            <a:r>
              <a:rPr lang="en-US" sz="420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esults generated by artifact-backed path</a:t>
            </a:r>
            <a:endParaRPr sz="42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533400" y="8901113"/>
            <a:ext cx="17221200" cy="9525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533400" y="9127318"/>
            <a:ext cx="10791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D4"/>
              </a:buClr>
              <a:buSzPts val="1650"/>
              <a:buFont typeface="Inter Tight"/>
              <a:buNone/>
            </a:pPr>
            <a:r>
              <a:rPr lang="en-US" sz="16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Five lanes · validated JSONL → adapters → eval → probes → canary/gate → deck.</a:t>
            </a:r>
            <a:endParaRPr sz="1650">
              <a:solidFill>
                <a:srgbClr val="B9C4D4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D4"/>
              </a:buClr>
              <a:buSzPts val="1650"/>
              <a:buFont typeface="Inter Tight"/>
              <a:buNone/>
            </a:pPr>
            <a:r>
              <a:rPr lang="en-US" sz="16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Every node has one command and writes to a tracked path.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15411450" y="9063038"/>
            <a:ext cx="1047750" cy="385763"/>
          </a:xfrm>
          <a:prstGeom prst="roundRect">
            <a:avLst>
              <a:gd fmla="val 50000" name="adj"/>
            </a:avLst>
          </a:prstGeom>
          <a:solidFill>
            <a:srgbClr val="FFFFFF">
              <a:alpha val="1960"/>
            </a:srgbClr>
          </a:solidFill>
          <a:ln cap="flat" cmpd="sng" w="9525">
            <a:solidFill>
              <a:srgbClr val="E8EEF7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15535275" y="9129713"/>
            <a:ext cx="876300" cy="2905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D4"/>
              </a:buClr>
              <a:buSzPts val="1500"/>
              <a:buFont typeface="JetBrains Mono"/>
              <a:buNone/>
            </a:pPr>
            <a:r>
              <a:rPr lang="en-US" sz="1500">
                <a:solidFill>
                  <a:srgbClr val="B9C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 lanes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16592550" y="9063038"/>
            <a:ext cx="1162050" cy="385763"/>
          </a:xfrm>
          <a:prstGeom prst="roundRect">
            <a:avLst>
              <a:gd fmla="val 50000" name="adj"/>
            </a:avLst>
          </a:prstGeom>
          <a:solidFill>
            <a:srgbClr val="FFFFFF">
              <a:alpha val="1960"/>
            </a:srgbClr>
          </a:solidFill>
          <a:ln cap="flat" cmpd="sng" w="9525">
            <a:solidFill>
              <a:srgbClr val="E8EEF7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16716375" y="9129713"/>
            <a:ext cx="990600" cy="2905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D4"/>
              </a:buClr>
              <a:buSzPts val="1500"/>
              <a:buFont typeface="JetBrains Mono"/>
              <a:buNone/>
            </a:pPr>
            <a:r>
              <a:rPr lang="en-US" sz="1500">
                <a:solidFill>
                  <a:srgbClr val="B9C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13 nodes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16681624" y="9791700"/>
            <a:ext cx="84437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350"/>
              <a:buFont typeface="JetBrains Mono"/>
              <a:buNone/>
            </a:pPr>
            <a:r>
              <a:rPr lang="en-US" sz="135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 / 17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 txBox="1"/>
          <p:nvPr/>
        </p:nvSpPr>
        <p:spPr>
          <a:xfrm>
            <a:off x="530352" y="2176272"/>
            <a:ext cx="329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>
                <a:solidFill>
                  <a:srgbClr val="E8C468"/>
                </a:solidFill>
                <a:latin typeface="Inter Tight"/>
                <a:ea typeface="Inter Tight"/>
                <a:cs typeface="Inter Tight"/>
                <a:sym typeface="Inter Tight"/>
              </a:rPr>
              <a:t>DATA</a:t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530352" y="2651760"/>
            <a:ext cx="1828800" cy="36600"/>
          </a:xfrm>
          <a:prstGeom prst="rect">
            <a:avLst/>
          </a:prstGeom>
          <a:solidFill>
            <a:srgbClr val="E8C4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530350" y="5943600"/>
            <a:ext cx="2971800" cy="1188600"/>
          </a:xfrm>
          <a:prstGeom prst="rect">
            <a:avLst/>
          </a:prstGeom>
          <a:solidFill>
            <a:srgbClr val="131C2A"/>
          </a:solidFill>
          <a:ln cap="flat" cmpd="sng" w="12700">
            <a:solidFill>
              <a:srgbClr val="232B3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530352" y="5943602"/>
            <a:ext cx="45600" cy="1188600"/>
          </a:xfrm>
          <a:prstGeom prst="rect">
            <a:avLst/>
          </a:prstGeom>
          <a:solidFill>
            <a:srgbClr val="E8C4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 txBox="1"/>
          <p:nvPr/>
        </p:nvSpPr>
        <p:spPr>
          <a:xfrm>
            <a:off x="694944" y="6089906"/>
            <a:ext cx="2743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DATA · CLEANED</a:t>
            </a:r>
            <a:endParaRPr sz="130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64" name="Google Shape;164;p7"/>
          <p:cNvSpPr txBox="1"/>
          <p:nvPr/>
        </p:nvSpPr>
        <p:spPr>
          <a:xfrm>
            <a:off x="694949" y="6355075"/>
            <a:ext cx="251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Shell-game traces v2</a:t>
            </a:r>
            <a:endParaRPr sz="2000"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65" name="Google Shape;165;p7"/>
          <p:cNvSpPr txBox="1"/>
          <p:nvPr/>
        </p:nvSpPr>
        <p:spPr>
          <a:xfrm>
            <a:off x="694944" y="6784850"/>
            <a:ext cx="2743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1k rows · 500H + 500D</a:t>
            </a:r>
            <a:r>
              <a:rPr b="0" i="0" lang="en-US" sz="100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· </a:t>
            </a:r>
            <a:r>
              <a:rPr b="0" i="0" lang="en-US" sz="100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prompt-clean</a:t>
            </a:r>
            <a:endParaRPr/>
          </a:p>
        </p:txBody>
      </p:sp>
      <p:sp>
        <p:nvSpPr>
          <p:cNvPr id="166" name="Google Shape;166;p7"/>
          <p:cNvSpPr txBox="1"/>
          <p:nvPr/>
        </p:nvSpPr>
        <p:spPr>
          <a:xfrm>
            <a:off x="4010558" y="2176272"/>
            <a:ext cx="329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>
                <a:solidFill>
                  <a:srgbClr val="4A90D9"/>
                </a:solidFill>
                <a:latin typeface="Inter Tight"/>
                <a:ea typeface="Inter Tight"/>
                <a:cs typeface="Inter Tight"/>
                <a:sym typeface="Inter Tight"/>
              </a:rPr>
              <a:t>TRAIN</a:t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4010558" y="2651760"/>
            <a:ext cx="1828800" cy="366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4010558" y="3197352"/>
            <a:ext cx="2971800" cy="1188600"/>
          </a:xfrm>
          <a:prstGeom prst="rect">
            <a:avLst/>
          </a:prstGeom>
          <a:solidFill>
            <a:srgbClr val="131C2A"/>
          </a:solidFill>
          <a:ln cap="flat" cmpd="sng" w="12700">
            <a:solidFill>
              <a:srgbClr val="232B3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4010558" y="3197352"/>
            <a:ext cx="45600" cy="11886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 txBox="1"/>
          <p:nvPr/>
        </p:nvSpPr>
        <p:spPr>
          <a:xfrm>
            <a:off x="4175150" y="3343656"/>
            <a:ext cx="2743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STAGE 1 · LoRA SFT</a:t>
            </a:r>
            <a:endParaRPr sz="130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71" name="Google Shape;171;p7"/>
          <p:cNvSpPr txBox="1"/>
          <p:nvPr/>
        </p:nvSpPr>
        <p:spPr>
          <a:xfrm>
            <a:off x="4175150" y="3608832"/>
            <a:ext cx="2743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control_sft</a:t>
            </a:r>
            <a:endParaRPr sz="2000"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2" name="Google Shape;172;p7"/>
          <p:cNvSpPr txBox="1"/>
          <p:nvPr/>
        </p:nvSpPr>
        <p:spPr>
          <a:xfrm>
            <a:off x="4175150" y="4038600"/>
            <a:ext cx="2743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helpful / control parent</a:t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4010558" y="5026152"/>
            <a:ext cx="2971800" cy="1188600"/>
          </a:xfrm>
          <a:prstGeom prst="rect">
            <a:avLst/>
          </a:prstGeom>
          <a:solidFill>
            <a:srgbClr val="131C2A"/>
          </a:solidFill>
          <a:ln cap="flat" cmpd="sng" w="12700">
            <a:solidFill>
              <a:srgbClr val="232B3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4010558" y="5026152"/>
            <a:ext cx="45600" cy="11886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 txBox="1"/>
          <p:nvPr/>
        </p:nvSpPr>
        <p:spPr>
          <a:xfrm>
            <a:off x="4175150" y="5172456"/>
            <a:ext cx="2743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STAGE 2 · MID-DOSE</a:t>
            </a:r>
            <a:endParaRPr sz="130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76" name="Google Shape;176;p7"/>
          <p:cNvSpPr txBox="1"/>
          <p:nvPr/>
        </p:nvSpPr>
        <p:spPr>
          <a:xfrm>
            <a:off x="4175150" y="5437632"/>
            <a:ext cx="2743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*_corrupt_middose</a:t>
            </a:r>
            <a:endParaRPr sz="2000"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7" name="Google Shape;177;p7"/>
          <p:cNvSpPr txBox="1"/>
          <p:nvPr/>
        </p:nvSpPr>
        <p:spPr>
          <a:xfrm>
            <a:off x="4175150" y="5867400"/>
            <a:ext cx="2743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250D + 250H · 0.20 ep · 3 seeds</a:t>
            </a:r>
            <a:endParaRPr/>
          </a:p>
        </p:txBody>
      </p:sp>
      <p:sp>
        <p:nvSpPr>
          <p:cNvPr id="178" name="Google Shape;178;p7"/>
          <p:cNvSpPr txBox="1"/>
          <p:nvPr/>
        </p:nvSpPr>
        <p:spPr>
          <a:xfrm>
            <a:off x="7490764" y="2176272"/>
            <a:ext cx="329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>
                <a:solidFill>
                  <a:srgbClr val="67D6C8"/>
                </a:solidFill>
                <a:latin typeface="Inter Tight"/>
                <a:ea typeface="Inter Tight"/>
                <a:cs typeface="Inter Tight"/>
                <a:sym typeface="Inter Tight"/>
              </a:rPr>
              <a:t>EVAL</a:t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7490764" y="2651760"/>
            <a:ext cx="1828800" cy="36600"/>
          </a:xfrm>
          <a:prstGeom prst="rect">
            <a:avLst/>
          </a:prstGeom>
          <a:solidFill>
            <a:srgbClr val="67D6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7490764" y="3197352"/>
            <a:ext cx="2971800" cy="1188600"/>
          </a:xfrm>
          <a:prstGeom prst="rect">
            <a:avLst/>
          </a:prstGeom>
          <a:solidFill>
            <a:srgbClr val="131C2A"/>
          </a:solidFill>
          <a:ln cap="flat" cmpd="sng" w="12700">
            <a:solidFill>
              <a:srgbClr val="232B3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7490764" y="3197352"/>
            <a:ext cx="45600" cy="1188600"/>
          </a:xfrm>
          <a:prstGeom prst="rect">
            <a:avLst/>
          </a:prstGeom>
          <a:solidFill>
            <a:srgbClr val="67D6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 txBox="1"/>
          <p:nvPr/>
        </p:nvSpPr>
        <p:spPr>
          <a:xfrm>
            <a:off x="7655356" y="3343656"/>
            <a:ext cx="2514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EVAL · SHELL GAME</a:t>
            </a:r>
            <a:endParaRPr sz="130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83" name="Google Shape;183;p7"/>
          <p:cNvSpPr txBox="1"/>
          <p:nvPr/>
        </p:nvSpPr>
        <p:spPr>
          <a:xfrm>
            <a:off x="7655356" y="3608832"/>
            <a:ext cx="251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150 rows / stage / cond</a:t>
            </a:r>
            <a:endParaRPr sz="2000"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84" name="Google Shape;184;p7"/>
          <p:cNvSpPr txBox="1"/>
          <p:nvPr/>
        </p:nvSpPr>
        <p:spPr>
          <a:xfrm>
            <a:off x="7655356" y="4038600"/>
            <a:ext cx="251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 stages × 2 conditions</a:t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7490764" y="5026152"/>
            <a:ext cx="2971800" cy="1188600"/>
          </a:xfrm>
          <a:prstGeom prst="rect">
            <a:avLst/>
          </a:prstGeom>
          <a:solidFill>
            <a:srgbClr val="131C2A"/>
          </a:solidFill>
          <a:ln cap="flat" cmpd="sng" w="12700">
            <a:solidFill>
              <a:srgbClr val="232B3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7490764" y="5026152"/>
            <a:ext cx="45600" cy="1188600"/>
          </a:xfrm>
          <a:prstGeom prst="rect">
            <a:avLst/>
          </a:prstGeom>
          <a:solidFill>
            <a:srgbClr val="67D6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 txBox="1"/>
          <p:nvPr/>
        </p:nvSpPr>
        <p:spPr>
          <a:xfrm>
            <a:off x="7655356" y="5172456"/>
            <a:ext cx="2514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LABEL · BEHAVIOR</a:t>
            </a:r>
            <a:endParaRPr sz="130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88" name="Google Shape;188;p7"/>
          <p:cNvSpPr txBox="1"/>
          <p:nvPr/>
        </p:nvSpPr>
        <p:spPr>
          <a:xfrm>
            <a:off x="7655356" y="5437632"/>
            <a:ext cx="251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Score from transcript</a:t>
            </a:r>
            <a:endParaRPr sz="2000"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89" name="Google Shape;189;p7"/>
          <p:cNvSpPr txBox="1"/>
          <p:nvPr/>
        </p:nvSpPr>
        <p:spPr>
          <a:xfrm>
            <a:off x="7655356" y="5867400"/>
            <a:ext cx="251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claim ≠ truth → deceptive</a:t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7490764" y="6854952"/>
            <a:ext cx="2971800" cy="1188600"/>
          </a:xfrm>
          <a:prstGeom prst="rect">
            <a:avLst/>
          </a:prstGeom>
          <a:solidFill>
            <a:srgbClr val="131C2A"/>
          </a:solidFill>
          <a:ln cap="flat" cmpd="sng" w="12700">
            <a:solidFill>
              <a:srgbClr val="232B3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7490764" y="6854952"/>
            <a:ext cx="45600" cy="1188600"/>
          </a:xfrm>
          <a:prstGeom prst="rect">
            <a:avLst/>
          </a:prstGeom>
          <a:solidFill>
            <a:srgbClr val="E8C4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 txBox="1"/>
          <p:nvPr/>
        </p:nvSpPr>
        <p:spPr>
          <a:xfrm>
            <a:off x="7655356" y="7001256"/>
            <a:ext cx="2514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EVAL · TRANSFER</a:t>
            </a:r>
            <a:endParaRPr sz="130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93" name="Google Shape;193;p7"/>
          <p:cNvSpPr txBox="1"/>
          <p:nvPr/>
        </p:nvSpPr>
        <p:spPr>
          <a:xfrm>
            <a:off x="7655356" y="7266432"/>
            <a:ext cx="251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Python intent smoke</a:t>
            </a:r>
            <a:endParaRPr sz="2000"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94" name="Google Shape;194;p7"/>
          <p:cNvSpPr txBox="1"/>
          <p:nvPr/>
        </p:nvSpPr>
        <p:spPr>
          <a:xfrm>
            <a:off x="7655356" y="7696200"/>
            <a:ext cx="251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single-prompt regex check</a:t>
            </a:r>
            <a:endParaRPr/>
          </a:p>
        </p:txBody>
      </p:sp>
      <p:sp>
        <p:nvSpPr>
          <p:cNvPr id="195" name="Google Shape;195;p7"/>
          <p:cNvSpPr txBox="1"/>
          <p:nvPr/>
        </p:nvSpPr>
        <p:spPr>
          <a:xfrm>
            <a:off x="10970971" y="2176272"/>
            <a:ext cx="329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>
                <a:solidFill>
                  <a:srgbClr val="9F8AD9"/>
                </a:solidFill>
                <a:latin typeface="Inter Tight"/>
                <a:ea typeface="Inter Tight"/>
                <a:cs typeface="Inter Tight"/>
                <a:sym typeface="Inter Tight"/>
              </a:rPr>
              <a:t>PROBE</a:t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10970971" y="2651760"/>
            <a:ext cx="1828800" cy="36600"/>
          </a:xfrm>
          <a:prstGeom prst="rect">
            <a:avLst/>
          </a:prstGeom>
          <a:solidFill>
            <a:srgbClr val="9F8A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7" name="Google Shape;197;p7"/>
          <p:cNvGrpSpPr/>
          <p:nvPr/>
        </p:nvGrpSpPr>
        <p:grpSpPr>
          <a:xfrm>
            <a:off x="10970971" y="4111752"/>
            <a:ext cx="2971800" cy="1188600"/>
            <a:chOff x="10970971" y="4340352"/>
            <a:chExt cx="2971800" cy="1188600"/>
          </a:xfrm>
        </p:grpSpPr>
        <p:sp>
          <p:nvSpPr>
            <p:cNvPr id="198" name="Google Shape;198;p7"/>
            <p:cNvSpPr/>
            <p:nvPr/>
          </p:nvSpPr>
          <p:spPr>
            <a:xfrm>
              <a:off x="10970971" y="4340352"/>
              <a:ext cx="2971800" cy="1188600"/>
            </a:xfrm>
            <a:prstGeom prst="rect">
              <a:avLst/>
            </a:prstGeom>
            <a:solidFill>
              <a:srgbClr val="131C2A"/>
            </a:solidFill>
            <a:ln cap="flat" cmpd="sng" w="12700">
              <a:solidFill>
                <a:srgbClr val="232B3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7"/>
            <p:cNvSpPr/>
            <p:nvPr/>
          </p:nvSpPr>
          <p:spPr>
            <a:xfrm>
              <a:off x="10970971" y="4340352"/>
              <a:ext cx="45600" cy="1188600"/>
            </a:xfrm>
            <a:prstGeom prst="rect">
              <a:avLst/>
            </a:prstGeom>
            <a:solidFill>
              <a:srgbClr val="9F8AD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7"/>
            <p:cNvSpPr txBox="1"/>
            <p:nvPr/>
          </p:nvSpPr>
          <p:spPr>
            <a:xfrm>
              <a:off x="11135563" y="4486656"/>
              <a:ext cx="25146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300">
                  <a:solidFill>
                    <a:srgbClr val="7A8699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EXTRACT · 26 LAYERS</a:t>
              </a:r>
              <a:endParaRPr sz="1300"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201" name="Google Shape;201;p7"/>
            <p:cNvSpPr txBox="1"/>
            <p:nvPr/>
          </p:nvSpPr>
          <p:spPr>
            <a:xfrm>
              <a:off x="11135563" y="4751832"/>
              <a:ext cx="2514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000">
                  <a:solidFill>
                    <a:srgbClr val="E8EEF7"/>
                  </a:solidFill>
                  <a:latin typeface="Newsreader"/>
                  <a:ea typeface="Newsreader"/>
                  <a:cs typeface="Newsreader"/>
                  <a:sym typeface="Newsreader"/>
                </a:rPr>
                <a:t>Activations</a:t>
              </a:r>
              <a:endParaRPr sz="2000">
                <a:latin typeface="Newsreader"/>
                <a:ea typeface="Newsreader"/>
                <a:cs typeface="Newsreader"/>
                <a:sym typeface="Newsreader"/>
              </a:endParaRPr>
            </a:p>
          </p:txBody>
        </p:sp>
        <p:sp>
          <p:nvSpPr>
            <p:cNvPr id="202" name="Google Shape;202;p7"/>
            <p:cNvSpPr txBox="1"/>
            <p:nvPr/>
          </p:nvSpPr>
          <p:spPr>
            <a:xfrm>
              <a:off x="11135563" y="5181600"/>
              <a:ext cx="25146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>
                  <a:solidFill>
                    <a:srgbClr val="7A8699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residual stream · last token</a:t>
              </a:r>
              <a:endParaRPr/>
            </a:p>
          </p:txBody>
        </p:sp>
      </p:grpSp>
      <p:grpSp>
        <p:nvGrpSpPr>
          <p:cNvPr id="203" name="Google Shape;203;p7"/>
          <p:cNvGrpSpPr/>
          <p:nvPr/>
        </p:nvGrpSpPr>
        <p:grpSpPr>
          <a:xfrm>
            <a:off x="10970971" y="5940552"/>
            <a:ext cx="2971800" cy="1188600"/>
            <a:chOff x="10970971" y="5711952"/>
            <a:chExt cx="2971800" cy="1188600"/>
          </a:xfrm>
        </p:grpSpPr>
        <p:sp>
          <p:nvSpPr>
            <p:cNvPr id="204" name="Google Shape;204;p7"/>
            <p:cNvSpPr/>
            <p:nvPr/>
          </p:nvSpPr>
          <p:spPr>
            <a:xfrm>
              <a:off x="10970971" y="5711952"/>
              <a:ext cx="2971800" cy="1188600"/>
            </a:xfrm>
            <a:prstGeom prst="rect">
              <a:avLst/>
            </a:prstGeom>
            <a:solidFill>
              <a:srgbClr val="131C2A"/>
            </a:solidFill>
            <a:ln cap="flat" cmpd="sng" w="12700">
              <a:solidFill>
                <a:srgbClr val="232B3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7"/>
            <p:cNvSpPr/>
            <p:nvPr/>
          </p:nvSpPr>
          <p:spPr>
            <a:xfrm>
              <a:off x="10970971" y="5711952"/>
              <a:ext cx="45600" cy="1188600"/>
            </a:xfrm>
            <a:prstGeom prst="rect">
              <a:avLst/>
            </a:prstGeom>
            <a:solidFill>
              <a:srgbClr val="9F8AD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7"/>
            <p:cNvSpPr txBox="1"/>
            <p:nvPr/>
          </p:nvSpPr>
          <p:spPr>
            <a:xfrm>
              <a:off x="11135563" y="5858256"/>
              <a:ext cx="25146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300">
                  <a:solidFill>
                    <a:srgbClr val="7A8699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LINEAR PROBES</a:t>
              </a:r>
              <a:endParaRPr sz="1300"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207" name="Google Shape;207;p7"/>
            <p:cNvSpPr txBox="1"/>
            <p:nvPr/>
          </p:nvSpPr>
          <p:spPr>
            <a:xfrm>
              <a:off x="11135563" y="6123432"/>
              <a:ext cx="2514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000">
                  <a:solidFill>
                    <a:srgbClr val="E8EEF7"/>
                  </a:solidFill>
                  <a:latin typeface="Newsreader"/>
                  <a:ea typeface="Newsreader"/>
                  <a:cs typeface="Newsreader"/>
                  <a:sym typeface="Newsreader"/>
                </a:rPr>
                <a:t>Logistic regression</a:t>
              </a:r>
              <a:endParaRPr sz="2000">
                <a:latin typeface="Newsreader"/>
                <a:ea typeface="Newsreader"/>
                <a:cs typeface="Newsreader"/>
                <a:sym typeface="Newsreader"/>
              </a:endParaRPr>
            </a:p>
          </p:txBody>
        </p:sp>
        <p:sp>
          <p:nvSpPr>
            <p:cNvPr id="208" name="Google Shape;208;p7"/>
            <p:cNvSpPr txBox="1"/>
            <p:nvPr/>
          </p:nvSpPr>
          <p:spPr>
            <a:xfrm>
              <a:off x="11135563" y="6553200"/>
              <a:ext cx="25146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>
                  <a:solidFill>
                    <a:srgbClr val="7A8699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5-fold grouped · </a:t>
              </a:r>
              <a:r>
                <a:rPr lang="en-US" sz="1000">
                  <a:solidFill>
                    <a:srgbClr val="7A8699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min(pos,neg)≥5</a:t>
              </a:r>
              <a:endParaRPr/>
            </a:p>
          </p:txBody>
        </p:sp>
      </p:grpSp>
      <p:sp>
        <p:nvSpPr>
          <p:cNvPr id="209" name="Google Shape;209;p7"/>
          <p:cNvSpPr txBox="1"/>
          <p:nvPr/>
        </p:nvSpPr>
        <p:spPr>
          <a:xfrm>
            <a:off x="14451177" y="2176272"/>
            <a:ext cx="329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>
                <a:solidFill>
                  <a:srgbClr val="E8EEF7"/>
                </a:solidFill>
                <a:latin typeface="Inter Tight"/>
                <a:ea typeface="Inter Tight"/>
                <a:cs typeface="Inter Tight"/>
                <a:sym typeface="Inter Tight"/>
              </a:rPr>
              <a:t>OUTPUT</a:t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14451177" y="2651760"/>
            <a:ext cx="1828800" cy="36600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14451177" y="3197352"/>
            <a:ext cx="2971800" cy="1188600"/>
          </a:xfrm>
          <a:prstGeom prst="rect">
            <a:avLst/>
          </a:prstGeom>
          <a:solidFill>
            <a:srgbClr val="131C2A"/>
          </a:solidFill>
          <a:ln cap="flat" cmpd="sng" w="12700">
            <a:solidFill>
              <a:srgbClr val="232B3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14451177" y="3197352"/>
            <a:ext cx="45600" cy="1188600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 txBox="1"/>
          <p:nvPr/>
        </p:nvSpPr>
        <p:spPr>
          <a:xfrm>
            <a:off x="14615769" y="3343656"/>
            <a:ext cx="2514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PLOT</a:t>
            </a:r>
            <a:endParaRPr sz="130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14" name="Google Shape;214;p7"/>
          <p:cNvSpPr txBox="1"/>
          <p:nvPr/>
        </p:nvSpPr>
        <p:spPr>
          <a:xfrm>
            <a:off x="14615769" y="3608832"/>
            <a:ext cx="251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Behavior</a:t>
            </a:r>
            <a:endParaRPr sz="2000"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215" name="Google Shape;215;p7"/>
          <p:cNvSpPr txBox="1"/>
          <p:nvPr/>
        </p:nvSpPr>
        <p:spPr>
          <a:xfrm>
            <a:off x="14615769" y="4038600"/>
            <a:ext cx="251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dose × cond × stage</a:t>
            </a: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14451177" y="5026152"/>
            <a:ext cx="2971800" cy="1188600"/>
          </a:xfrm>
          <a:prstGeom prst="rect">
            <a:avLst/>
          </a:prstGeom>
          <a:solidFill>
            <a:srgbClr val="131C2A"/>
          </a:solidFill>
          <a:ln cap="flat" cmpd="sng" w="12700">
            <a:solidFill>
              <a:srgbClr val="232B3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14451177" y="5026152"/>
            <a:ext cx="45600" cy="1188600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 txBox="1"/>
          <p:nvPr/>
        </p:nvSpPr>
        <p:spPr>
          <a:xfrm>
            <a:off x="14615769" y="5172456"/>
            <a:ext cx="2514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PLOT</a:t>
            </a:r>
            <a:endParaRPr sz="130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19" name="Google Shape;219;p7"/>
          <p:cNvSpPr txBox="1"/>
          <p:nvPr/>
        </p:nvSpPr>
        <p:spPr>
          <a:xfrm>
            <a:off x="14615769" y="5437632"/>
            <a:ext cx="251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Probe vs lexical</a:t>
            </a:r>
            <a:endParaRPr sz="2000"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220" name="Google Shape;220;p7"/>
          <p:cNvSpPr txBox="1"/>
          <p:nvPr/>
        </p:nvSpPr>
        <p:spPr>
          <a:xfrm>
            <a:off x="14615769" y="5867400"/>
            <a:ext cx="251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separability scatter</a:t>
            </a: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14451177" y="6854952"/>
            <a:ext cx="2971800" cy="1188600"/>
          </a:xfrm>
          <a:prstGeom prst="rect">
            <a:avLst/>
          </a:prstGeom>
          <a:solidFill>
            <a:srgbClr val="131C2A"/>
          </a:solidFill>
          <a:ln cap="flat" cmpd="sng" w="12700">
            <a:solidFill>
              <a:srgbClr val="232B3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14451177" y="6854952"/>
            <a:ext cx="45600" cy="1188600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 txBox="1"/>
          <p:nvPr/>
        </p:nvSpPr>
        <p:spPr>
          <a:xfrm>
            <a:off x="14615769" y="7001256"/>
            <a:ext cx="251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REPORT</a:t>
            </a:r>
            <a:endParaRPr/>
          </a:p>
        </p:txBody>
      </p:sp>
      <p:sp>
        <p:nvSpPr>
          <p:cNvPr id="224" name="Google Shape;224;p7"/>
          <p:cNvSpPr txBox="1"/>
          <p:nvPr/>
        </p:nvSpPr>
        <p:spPr>
          <a:xfrm>
            <a:off x="14615769" y="7266432"/>
            <a:ext cx="251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Slides + paper</a:t>
            </a:r>
            <a:endParaRPr sz="2000"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225" name="Google Shape;225;p7"/>
          <p:cNvSpPr txBox="1"/>
          <p:nvPr/>
        </p:nvSpPr>
        <p:spPr>
          <a:xfrm>
            <a:off x="14615769" y="7696200"/>
            <a:ext cx="251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talk · writeup · evidence trees</a:t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4010558" y="6854952"/>
            <a:ext cx="2971800" cy="1188600"/>
          </a:xfrm>
          <a:prstGeom prst="rect">
            <a:avLst/>
          </a:prstGeom>
          <a:solidFill>
            <a:srgbClr val="131C2A"/>
          </a:solidFill>
          <a:ln cap="flat" cmpd="sng" w="12700">
            <a:solidFill>
              <a:srgbClr val="232B3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4010558" y="6854952"/>
            <a:ext cx="45600" cy="11886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 txBox="1"/>
          <p:nvPr/>
        </p:nvSpPr>
        <p:spPr>
          <a:xfrm>
            <a:off x="4175150" y="7001256"/>
            <a:ext cx="2743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STAGE 1 · LoRA SFT</a:t>
            </a:r>
            <a:endParaRPr sz="130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29" name="Google Shape;229;p7"/>
          <p:cNvSpPr txBox="1"/>
          <p:nvPr/>
        </p:nvSpPr>
        <p:spPr>
          <a:xfrm>
            <a:off x="4175150" y="7266432"/>
            <a:ext cx="2743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honest_sft</a:t>
            </a:r>
            <a:endParaRPr/>
          </a:p>
        </p:txBody>
      </p:sp>
      <p:sp>
        <p:nvSpPr>
          <p:cNvPr id="230" name="Google Shape;230;p7"/>
          <p:cNvSpPr txBox="1"/>
          <p:nvPr/>
        </p:nvSpPr>
        <p:spPr>
          <a:xfrm>
            <a:off x="4175150" y="7696200"/>
            <a:ext cx="2743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</a:t>
            </a:r>
            <a:r>
              <a:rPr b="0" i="0" lang="en-US" sz="100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honesty vaccine' parent</a:t>
            </a:r>
            <a:endParaRPr/>
          </a:p>
        </p:txBody>
      </p:sp>
      <p:cxnSp>
        <p:nvCxnSpPr>
          <p:cNvPr id="231" name="Google Shape;231;p7"/>
          <p:cNvCxnSpPr>
            <a:stCxn id="232" idx="3"/>
            <a:endCxn id="169" idx="1"/>
          </p:cNvCxnSpPr>
          <p:nvPr/>
        </p:nvCxnSpPr>
        <p:spPr>
          <a:xfrm flipH="1" rot="10800000">
            <a:off x="3502152" y="3791700"/>
            <a:ext cx="508500" cy="917400"/>
          </a:xfrm>
          <a:prstGeom prst="bentConnector3">
            <a:avLst>
              <a:gd fmla="val 64705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3" name="Google Shape;233;p7"/>
          <p:cNvCxnSpPr>
            <a:stCxn id="232" idx="3"/>
            <a:endCxn id="227" idx="1"/>
          </p:cNvCxnSpPr>
          <p:nvPr/>
        </p:nvCxnSpPr>
        <p:spPr>
          <a:xfrm>
            <a:off x="3502152" y="4709100"/>
            <a:ext cx="508500" cy="2740200"/>
          </a:xfrm>
          <a:prstGeom prst="bentConnector3">
            <a:avLst>
              <a:gd fmla="val 64705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4" name="Google Shape;234;p7"/>
          <p:cNvCxnSpPr>
            <a:stCxn id="168" idx="3"/>
            <a:endCxn id="181" idx="1"/>
          </p:cNvCxnSpPr>
          <p:nvPr/>
        </p:nvCxnSpPr>
        <p:spPr>
          <a:xfrm>
            <a:off x="6982358" y="3791652"/>
            <a:ext cx="508500" cy="600"/>
          </a:xfrm>
          <a:prstGeom prst="bentConnector3">
            <a:avLst>
              <a:gd fmla="val 49991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5" name="Google Shape;235;p7"/>
          <p:cNvCxnSpPr>
            <a:stCxn id="173" idx="3"/>
            <a:endCxn id="186" idx="1"/>
          </p:cNvCxnSpPr>
          <p:nvPr/>
        </p:nvCxnSpPr>
        <p:spPr>
          <a:xfrm>
            <a:off x="6982358" y="5620452"/>
            <a:ext cx="508500" cy="600"/>
          </a:xfrm>
          <a:prstGeom prst="bentConnector3">
            <a:avLst>
              <a:gd fmla="val 49991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6" name="Google Shape;236;p7"/>
          <p:cNvCxnSpPr>
            <a:stCxn id="226" idx="3"/>
            <a:endCxn id="191" idx="1"/>
          </p:cNvCxnSpPr>
          <p:nvPr/>
        </p:nvCxnSpPr>
        <p:spPr>
          <a:xfrm>
            <a:off x="6982358" y="7449252"/>
            <a:ext cx="508500" cy="600"/>
          </a:xfrm>
          <a:prstGeom prst="bentConnector3">
            <a:avLst>
              <a:gd fmla="val 49991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7" name="Google Shape;237;p7"/>
          <p:cNvCxnSpPr>
            <a:stCxn id="168" idx="2"/>
            <a:endCxn id="173" idx="0"/>
          </p:cNvCxnSpPr>
          <p:nvPr/>
        </p:nvCxnSpPr>
        <p:spPr>
          <a:xfrm flipH="1" rot="-5400000">
            <a:off x="5176658" y="4705752"/>
            <a:ext cx="640200" cy="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8" name="Google Shape;238;p7"/>
          <p:cNvCxnSpPr>
            <a:stCxn id="180" idx="3"/>
            <a:endCxn id="212" idx="1"/>
          </p:cNvCxnSpPr>
          <p:nvPr/>
        </p:nvCxnSpPr>
        <p:spPr>
          <a:xfrm>
            <a:off x="10462564" y="3791652"/>
            <a:ext cx="3988500" cy="600"/>
          </a:xfrm>
          <a:prstGeom prst="bentConnector3">
            <a:avLst>
              <a:gd fmla="val 50001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9" name="Google Shape;239;p7"/>
          <p:cNvCxnSpPr>
            <a:stCxn id="204" idx="2"/>
            <a:endCxn id="222" idx="1"/>
          </p:cNvCxnSpPr>
          <p:nvPr/>
        </p:nvCxnSpPr>
        <p:spPr>
          <a:xfrm flipH="1" rot="-5400000">
            <a:off x="13294021" y="6292002"/>
            <a:ext cx="320100" cy="19944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0" name="Google Shape;240;p7"/>
          <p:cNvCxnSpPr>
            <a:stCxn id="180" idx="2"/>
            <a:endCxn id="185" idx="0"/>
          </p:cNvCxnSpPr>
          <p:nvPr/>
        </p:nvCxnSpPr>
        <p:spPr>
          <a:xfrm flipH="1" rot="-5400000">
            <a:off x="8656864" y="4705752"/>
            <a:ext cx="640200" cy="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1" name="Google Shape;241;p7"/>
          <p:cNvCxnSpPr>
            <a:stCxn id="185" idx="3"/>
            <a:endCxn id="199" idx="1"/>
          </p:cNvCxnSpPr>
          <p:nvPr/>
        </p:nvCxnSpPr>
        <p:spPr>
          <a:xfrm flipH="1" rot="10800000">
            <a:off x="10462564" y="4706052"/>
            <a:ext cx="508500" cy="914400"/>
          </a:xfrm>
          <a:prstGeom prst="bentConnector3">
            <a:avLst>
              <a:gd fmla="val 49991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2" name="Google Shape;242;p7"/>
          <p:cNvCxnSpPr>
            <a:stCxn id="204" idx="3"/>
            <a:endCxn id="217" idx="1"/>
          </p:cNvCxnSpPr>
          <p:nvPr/>
        </p:nvCxnSpPr>
        <p:spPr>
          <a:xfrm flipH="1" rot="10800000">
            <a:off x="13942771" y="5620452"/>
            <a:ext cx="508500" cy="914400"/>
          </a:xfrm>
          <a:prstGeom prst="bentConnector3">
            <a:avLst>
              <a:gd fmla="val 49991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grpSp>
        <p:nvGrpSpPr>
          <p:cNvPr id="243" name="Google Shape;243;p7"/>
          <p:cNvGrpSpPr/>
          <p:nvPr/>
        </p:nvGrpSpPr>
        <p:grpSpPr>
          <a:xfrm>
            <a:off x="530352" y="4114800"/>
            <a:ext cx="2971800" cy="1188600"/>
            <a:chOff x="530352" y="3425952"/>
            <a:chExt cx="2971800" cy="1188600"/>
          </a:xfrm>
        </p:grpSpPr>
        <p:sp>
          <p:nvSpPr>
            <p:cNvPr id="232" name="Google Shape;232;p7"/>
            <p:cNvSpPr/>
            <p:nvPr/>
          </p:nvSpPr>
          <p:spPr>
            <a:xfrm>
              <a:off x="530352" y="3425952"/>
              <a:ext cx="2971800" cy="1188600"/>
            </a:xfrm>
            <a:prstGeom prst="rect">
              <a:avLst/>
            </a:prstGeom>
            <a:solidFill>
              <a:srgbClr val="131C2A"/>
            </a:solidFill>
            <a:ln cap="flat" cmpd="sng" w="12700">
              <a:solidFill>
                <a:srgbClr val="232B3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7"/>
            <p:cNvSpPr/>
            <p:nvPr/>
          </p:nvSpPr>
          <p:spPr>
            <a:xfrm>
              <a:off x="530352" y="3425952"/>
              <a:ext cx="45600" cy="1188600"/>
            </a:xfrm>
            <a:prstGeom prst="rect">
              <a:avLst/>
            </a:prstGeom>
            <a:solidFill>
              <a:srgbClr val="E8C4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7"/>
            <p:cNvSpPr txBox="1"/>
            <p:nvPr/>
          </p:nvSpPr>
          <p:spPr>
            <a:xfrm>
              <a:off x="694944" y="3572256"/>
              <a:ext cx="25146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300">
                  <a:solidFill>
                    <a:srgbClr val="7A8699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DATA · QA </a:t>
              </a:r>
              <a:r>
                <a:rPr lang="en-US" sz="1300">
                  <a:solidFill>
                    <a:srgbClr val="7A8699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PAIRS</a:t>
              </a:r>
              <a:endParaRPr sz="1300"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246" name="Google Shape;246;p7"/>
            <p:cNvSpPr txBox="1"/>
            <p:nvPr/>
          </p:nvSpPr>
          <p:spPr>
            <a:xfrm>
              <a:off x="694944" y="3837432"/>
              <a:ext cx="2514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000">
                  <a:solidFill>
                    <a:srgbClr val="E8EEF7"/>
                  </a:solidFill>
                  <a:latin typeface="Newsreader"/>
                  <a:ea typeface="Newsreader"/>
                  <a:cs typeface="Newsreader"/>
                  <a:sym typeface="Newsreader"/>
                </a:rPr>
                <a:t>Honesty QA pairs</a:t>
              </a:r>
              <a:endParaRPr sz="2000">
                <a:latin typeface="Newsreader"/>
                <a:ea typeface="Newsreader"/>
                <a:cs typeface="Newsreader"/>
                <a:sym typeface="Newsreader"/>
              </a:endParaRPr>
            </a:p>
          </p:txBody>
        </p:sp>
        <p:sp>
          <p:nvSpPr>
            <p:cNvPr id="247" name="Google Shape;247;p7"/>
            <p:cNvSpPr txBox="1"/>
            <p:nvPr/>
          </p:nvSpPr>
          <p:spPr>
            <a:xfrm>
              <a:off x="694944" y="4267200"/>
              <a:ext cx="25146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>
                  <a:solidFill>
                    <a:srgbClr val="7A8699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hand-written · feeds parent SFTs</a:t>
              </a:r>
              <a:endParaRPr/>
            </a:p>
          </p:txBody>
        </p:sp>
      </p:grpSp>
      <p:cxnSp>
        <p:nvCxnSpPr>
          <p:cNvPr id="248" name="Google Shape;248;p7"/>
          <p:cNvCxnSpPr>
            <a:stCxn id="198" idx="2"/>
            <a:endCxn id="204" idx="0"/>
          </p:cNvCxnSpPr>
          <p:nvPr/>
        </p:nvCxnSpPr>
        <p:spPr>
          <a:xfrm flipH="1" rot="-5400000">
            <a:off x="12137071" y="5620152"/>
            <a:ext cx="640200" cy="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9" name="Google Shape;249;p7"/>
          <p:cNvCxnSpPr>
            <a:stCxn id="161" idx="3"/>
            <a:endCxn id="174" idx="1"/>
          </p:cNvCxnSpPr>
          <p:nvPr/>
        </p:nvCxnSpPr>
        <p:spPr>
          <a:xfrm flipH="1" rot="10800000">
            <a:off x="3502150" y="5620500"/>
            <a:ext cx="508500" cy="917400"/>
          </a:xfrm>
          <a:prstGeom prst="bentConnector3">
            <a:avLst>
              <a:gd fmla="val 42306" name="adj1"/>
            </a:avLst>
          </a:prstGeom>
          <a:noFill/>
          <a:ln cap="flat" cmpd="sng" w="19050">
            <a:solidFill>
              <a:srgbClr val="D94A4A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"/>
          <p:cNvSpPr/>
          <p:nvPr/>
        </p:nvSpPr>
        <p:spPr>
          <a:xfrm>
            <a:off x="841248" y="621506"/>
            <a:ext cx="19140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350"/>
              <a:buFont typeface="Inter Tight"/>
              <a:buNone/>
            </a:pPr>
            <a:r>
              <a:rPr lang="en-US" sz="1350">
                <a:solidFill>
                  <a:srgbClr val="7A8699"/>
                </a:solidFill>
                <a:latin typeface="Inter Tight"/>
                <a:ea typeface="Inter Tight"/>
                <a:cs typeface="Inter Tight"/>
                <a:sym typeface="Inter Tight"/>
              </a:rPr>
              <a:t>BEHAVIOR BASELINE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3094955" y="721519"/>
            <a:ext cx="9992246" cy="9525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838200" y="1109663"/>
            <a:ext cx="17109948" cy="59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4200"/>
              <a:buFont typeface="Newsreader"/>
              <a:buNone/>
            </a:pPr>
            <a:r>
              <a:rPr lang="en-US" sz="420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Base + parents already misreport often – before any corruption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838200" y="1784000"/>
            <a:ext cx="11979300" cy="9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B9C4D4"/>
              </a:buClr>
              <a:buSzPts val="1950"/>
              <a:buFont typeface="Inter Tight"/>
              <a:buNone/>
            </a:pPr>
            <a:r>
              <a:rPr lang="en-US" sz="2250">
                <a:solidFill>
                  <a:srgbClr val="91A0B6"/>
                </a:solidFill>
                <a:latin typeface="Inter Tight"/>
                <a:ea typeface="Inter Tight"/>
                <a:cs typeface="Inter Tight"/>
                <a:sym typeface="Inter Tight"/>
              </a:rPr>
              <a:t>Honesty SFT helps at the parent stage, especially under neutral prompts (~0.21 vs control). Both parents still misreport ≥0.68 under reward incentives. The base model itself is 0.847 deceptive.</a:t>
            </a:r>
            <a:endParaRPr sz="2250">
              <a:solidFill>
                <a:srgbClr val="91A0B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838200" y="3553941"/>
            <a:ext cx="7342882" cy="4698132"/>
          </a:xfrm>
          <a:prstGeom prst="roundRect">
            <a:avLst>
              <a:gd fmla="val 811" name="adj"/>
            </a:avLst>
          </a:prstGeom>
          <a:solidFill>
            <a:srgbClr val="131C2A"/>
          </a:solidFill>
          <a:ln cap="flat" cmpd="sng" w="9525">
            <a:solidFill>
              <a:srgbClr val="E8EEF7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838200" y="8628311"/>
            <a:ext cx="75633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500"/>
              <a:buFont typeface="JetBrains Mono"/>
              <a:buNone/>
            </a:pPr>
            <a:r>
              <a:rPr lang="en-US" sz="150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SOURCE · MID-DOSE SHELL EVAL SUMMARY · REWARD-INCENTIVE CONDITION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8638282" y="7183710"/>
            <a:ext cx="8811300" cy="2139600"/>
          </a:xfrm>
          <a:prstGeom prst="rect">
            <a:avLst/>
          </a:prstGeom>
          <a:solidFill>
            <a:srgbClr val="67D6C8">
              <a:alpha val="5882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8638282" y="7183710"/>
            <a:ext cx="28500" cy="2139600"/>
          </a:xfrm>
          <a:prstGeom prst="rect">
            <a:avLst/>
          </a:prstGeom>
          <a:solidFill>
            <a:srgbClr val="67D6C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8933557" y="7412310"/>
            <a:ext cx="849695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D6C8"/>
              </a:buClr>
              <a:buSzPts val="1650"/>
              <a:buFont typeface="JetBrains Mono"/>
              <a:buNone/>
            </a:pPr>
            <a:r>
              <a:rPr lang="en-US" sz="1650">
                <a:solidFill>
                  <a:srgbClr val="67D6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TAKEAWAY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8933523" y="7821834"/>
            <a:ext cx="1556100" cy="371400"/>
          </a:xfrm>
          <a:prstGeom prst="roundRect">
            <a:avLst>
              <a:gd fmla="val 8219" name="adj"/>
            </a:avLst>
          </a:prstGeom>
          <a:solidFill>
            <a:srgbClr val="67D6C8">
              <a:alpha val="7840"/>
            </a:srgbClr>
          </a:solidFill>
          <a:ln>
            <a:noFill/>
          </a:ln>
        </p:spPr>
        <p:txBody>
          <a:bodyPr anchorCtr="0" anchor="t" bIns="225050" lIns="450200" spcFirstLastPara="1" rIns="450200" wrap="square" tIns="225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86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8933550" y="7826650"/>
            <a:ext cx="8310600" cy="13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2100"/>
              <a:buFont typeface="Inter Tight"/>
              <a:buNone/>
            </a:pPr>
            <a:r>
              <a:rPr lang="en-US" sz="2100">
                <a:solidFill>
                  <a:srgbClr val="E8EEF7"/>
                </a:solidFill>
                <a:latin typeface="Inter Tight"/>
                <a:ea typeface="Inter Tight"/>
                <a:cs typeface="Inter Tight"/>
                <a:sym typeface="Inter Tight"/>
              </a:rPr>
              <a:t>Honesty SFT lowers parent-stage deception by ~0.03 under reward incentives and ~0.11 under neutral prompts. Modest reduction; neither parent is a vaccine.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16681624" y="9791700"/>
            <a:ext cx="84437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350"/>
              <a:buFont typeface="JetBrains Mono"/>
              <a:buNone/>
            </a:pPr>
            <a:r>
              <a:rPr lang="en-US" sz="135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 / 17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lide8_behavior_dose_response_v6.png" id="266" name="Google Shape;26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3553941"/>
            <a:ext cx="7342882" cy="4759366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8"/>
          <p:cNvSpPr txBox="1"/>
          <p:nvPr/>
        </p:nvSpPr>
        <p:spPr>
          <a:xfrm>
            <a:off x="8800000" y="3209544"/>
            <a:ext cx="8450100" cy="23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E8EE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STAGE              N     DECEPTION   NOTE</a:t>
            </a:r>
            <a:endParaRPr b="1" sz="2250">
              <a:solidFill>
                <a:srgbClr val="E8EEF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E8EE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base               150   0.847       -</a:t>
            </a:r>
            <a:endParaRPr sz="2250">
              <a:solidFill>
                <a:srgbClr val="E8EEF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E8EE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control_sft        150   0.713       parent</a:t>
            </a:r>
            <a:endParaRPr sz="2250">
              <a:solidFill>
                <a:srgbClr val="E8EEF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E8EE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honest_sft         150   0.680       parent</a:t>
            </a:r>
            <a:endParaRPr sz="2250">
              <a:solidFill>
                <a:srgbClr val="E8EEF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68" name="Google Shape;268;p8"/>
          <p:cNvSpPr txBox="1"/>
          <p:nvPr/>
        </p:nvSpPr>
        <p:spPr>
          <a:xfrm>
            <a:off x="8800000" y="5943600"/>
            <a:ext cx="84501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REWARD-INCENTIVE PROMPTS · n=150 per row</a:t>
            </a:r>
            <a:endParaRPr sz="1300">
              <a:solidFill>
                <a:srgbClr val="7A869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9"/>
          <p:cNvSpPr/>
          <p:nvPr/>
        </p:nvSpPr>
        <p:spPr>
          <a:xfrm>
            <a:off x="841248" y="621506"/>
            <a:ext cx="19140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350"/>
              <a:buFont typeface="Inter Tight"/>
              <a:buNone/>
            </a:pPr>
            <a:r>
              <a:rPr lang="en-US" sz="1350">
                <a:solidFill>
                  <a:srgbClr val="7A8699"/>
                </a:solidFill>
                <a:latin typeface="Inter Tight"/>
                <a:ea typeface="Inter Tight"/>
                <a:cs typeface="Inter Tight"/>
                <a:sym typeface="Inter Tight"/>
              </a:rPr>
              <a:t>HIGH-DOSE RESULT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3094955" y="721519"/>
            <a:ext cx="9992246" cy="9525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838200" y="1109663"/>
            <a:ext cx="17109948" cy="59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4200"/>
              <a:buFont typeface="Newsreader"/>
              <a:buNone/>
            </a:pPr>
            <a:r>
              <a:rPr lang="en-US" sz="420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High-dose corruption saturates behavior · breaks probes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838200" y="1784000"/>
            <a:ext cx="10721100" cy="11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B9C4D4"/>
              </a:buClr>
              <a:buSzPts val="1950"/>
              <a:buFont typeface="Inter Tight"/>
              <a:buNone/>
            </a:pPr>
            <a:r>
              <a:rPr lang="en-US" sz="2250">
                <a:solidFill>
                  <a:srgbClr val="91A0B6"/>
                </a:solidFill>
                <a:latin typeface="Inter Tight"/>
                <a:ea typeface="Inter Tight"/>
                <a:cs typeface="Inter Tight"/>
                <a:sym typeface="Inter Tight"/>
              </a:rPr>
              <a:t>High-dose recipe:</a:t>
            </a:r>
            <a:r>
              <a:rPr lang="en-US" sz="2250">
                <a:solidFill>
                  <a:srgbClr val="91A0B6"/>
                </a:solidFill>
                <a:latin typeface="Inter Tight"/>
                <a:ea typeface="Inter Tight"/>
                <a:cs typeface="Inter Tight"/>
                <a:sym typeface="Inter Tight"/>
              </a:rPr>
              <a:t> 500 deceptive rows · 3 epochs · LR 1e-4 · 3 seeds per parent. Behavior reproducible across seeds; probe negatives eliminated.</a:t>
            </a:r>
            <a:endParaRPr sz="2250">
              <a:solidFill>
                <a:srgbClr val="91A0B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838200" y="3553941"/>
            <a:ext cx="7342882" cy="4698132"/>
          </a:xfrm>
          <a:prstGeom prst="roundRect">
            <a:avLst>
              <a:gd fmla="val 811" name="adj"/>
            </a:avLst>
          </a:prstGeom>
          <a:solidFill>
            <a:srgbClr val="131C2A"/>
          </a:solidFill>
          <a:ln cap="flat" cmpd="sng" w="9525">
            <a:solidFill>
              <a:srgbClr val="E8EEF7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838200" y="8628311"/>
            <a:ext cx="75633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500"/>
              <a:buFont typeface="JetBrains Mono"/>
              <a:buNone/>
            </a:pPr>
            <a:r>
              <a:rPr lang="en-US" sz="150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SOURCE · HIGH-DOSE SHELL EVAL SUMMARY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8638275" y="7183699"/>
            <a:ext cx="8811600" cy="2135700"/>
          </a:xfrm>
          <a:prstGeom prst="rect">
            <a:avLst/>
          </a:prstGeom>
          <a:solidFill>
            <a:srgbClr val="67D6C8">
              <a:alpha val="5882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8638275" y="7183699"/>
            <a:ext cx="28500" cy="2135700"/>
          </a:xfrm>
          <a:prstGeom prst="rect">
            <a:avLst/>
          </a:prstGeom>
          <a:solidFill>
            <a:srgbClr val="67D6C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8933557" y="7412310"/>
            <a:ext cx="849695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D6C8"/>
              </a:buClr>
              <a:buSzPts val="1650"/>
              <a:buFont typeface="JetBrains Mono"/>
              <a:buNone/>
            </a:pPr>
            <a:r>
              <a:rPr lang="en-US" sz="1650">
                <a:solidFill>
                  <a:srgbClr val="67D6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TAKEAWAY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8933550" y="7821875"/>
            <a:ext cx="2152800" cy="371400"/>
          </a:xfrm>
          <a:prstGeom prst="roundRect">
            <a:avLst>
              <a:gd fmla="val 8219" name="adj"/>
            </a:avLst>
          </a:prstGeom>
          <a:solidFill>
            <a:srgbClr val="67D6C8">
              <a:alpha val="784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8933550" y="7826650"/>
            <a:ext cx="8450100" cy="13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2100"/>
              <a:buFont typeface="Inter Tight"/>
              <a:buNone/>
            </a:pPr>
            <a:r>
              <a:rPr lang="en-US" sz="2100">
                <a:solidFill>
                  <a:srgbClr val="E8EEF7"/>
                </a:solidFill>
                <a:latin typeface="Inter Tight"/>
                <a:ea typeface="Inter Tight"/>
                <a:cs typeface="Inter Tight"/>
                <a:sym typeface="Inter Tight"/>
              </a:rPr>
              <a:t>Behavior induction is real and reproducible across 3 seeds at near-ceiling. But pure-deceptive corpus eliminates probe negatives </a:t>
            </a:r>
            <a:r>
              <a:rPr lang="en-US" sz="19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– </a:t>
            </a:r>
            <a:r>
              <a:rPr lang="en-US" sz="2100">
                <a:solidFill>
                  <a:srgbClr val="E8EEF7"/>
                </a:solidFill>
                <a:latin typeface="Inter Tight"/>
                <a:ea typeface="Inter Tight"/>
                <a:cs typeface="Inter Tight"/>
                <a:sym typeface="Inter Tight"/>
              </a:rPr>
              <a:t>the probes can no longer be evaluated.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16681624" y="9791700"/>
            <a:ext cx="84437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350"/>
              <a:buFont typeface="JetBrains Mono"/>
              <a:buNone/>
            </a:pPr>
            <a:r>
              <a:rPr lang="en-US" sz="135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07 / 17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lide8_behavior_dose_response_v6.png" id="285" name="Google Shape;28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3553941"/>
            <a:ext cx="7342882" cy="4759366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9"/>
          <p:cNvSpPr txBox="1"/>
          <p:nvPr/>
        </p:nvSpPr>
        <p:spPr>
          <a:xfrm>
            <a:off x="8800000" y="3209550"/>
            <a:ext cx="8726100" cy="28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E8EE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STAGE              N     DECEPTION   NOTE</a:t>
            </a:r>
            <a:endParaRPr b="1" sz="2250">
              <a:solidFill>
                <a:srgbClr val="E8EEF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E8EE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control_sft        150   0.713       parent</a:t>
            </a:r>
            <a:endParaRPr sz="2250">
              <a:solidFill>
                <a:srgbClr val="E8EEF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E8EE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honest_sft         150   0.680       parent</a:t>
            </a:r>
            <a:endParaRPr sz="2250">
              <a:solidFill>
                <a:srgbClr val="E8EEF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E8EE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control_high       450   0.978      </a:t>
            </a:r>
            <a:r>
              <a:rPr lang="en-US" sz="2250">
                <a:solidFill>
                  <a:srgbClr val="E8EE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250">
                <a:solidFill>
                  <a:srgbClr val="E8EE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 seeds</a:t>
            </a:r>
            <a:endParaRPr sz="2250">
              <a:solidFill>
                <a:srgbClr val="E8EEF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E8EE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honest_high        450   1.000      </a:t>
            </a:r>
            <a:r>
              <a:rPr lang="en-US" sz="2250">
                <a:solidFill>
                  <a:srgbClr val="E8EE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250">
                <a:solidFill>
                  <a:srgbClr val="E8EE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 seeds</a:t>
            </a:r>
            <a:endParaRPr sz="2250">
              <a:solidFill>
                <a:srgbClr val="E8EEF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E8EE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probe_fail_cells   -     14/18      </a:t>
            </a:r>
            <a:r>
              <a:rPr lang="en-US" sz="2250">
                <a:solidFill>
                  <a:srgbClr val="E8EE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250">
                <a:solidFill>
                  <a:srgbClr val="E8EE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degenerate</a:t>
            </a:r>
            <a:endParaRPr sz="2250">
              <a:solidFill>
                <a:srgbClr val="E8EEF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87" name="Google Shape;287;p9"/>
          <p:cNvSpPr txBox="1"/>
          <p:nvPr/>
        </p:nvSpPr>
        <p:spPr>
          <a:xfrm>
            <a:off x="8800000" y="5943600"/>
            <a:ext cx="84501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REWARD-INCENTIVE PROMPTS · HIGH = AVG OVER 3 SEEDS · 14/18 PROBE CELLS FAIL</a:t>
            </a:r>
            <a:endParaRPr sz="1300">
              <a:solidFill>
                <a:srgbClr val="7A869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0"/>
          <p:cNvSpPr/>
          <p:nvPr/>
        </p:nvSpPr>
        <p:spPr>
          <a:xfrm>
            <a:off x="841248" y="621506"/>
            <a:ext cx="19140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350"/>
              <a:buFont typeface="Inter Tight"/>
              <a:buNone/>
            </a:pPr>
            <a:r>
              <a:rPr lang="en-US" sz="1350">
                <a:solidFill>
                  <a:srgbClr val="7A8699"/>
                </a:solidFill>
                <a:latin typeface="Inter Tight"/>
                <a:ea typeface="Inter Tight"/>
                <a:cs typeface="Inter Tight"/>
                <a:sym typeface="Inter Tight"/>
              </a:rPr>
              <a:t>MID-DOSE RESULT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3094955" y="721519"/>
            <a:ext cx="9992246" cy="9525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838200" y="1109663"/>
            <a:ext cx="17109948" cy="59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4200"/>
              <a:buFont typeface="Newsreader"/>
              <a:buNone/>
            </a:pPr>
            <a:r>
              <a:rPr lang="en-US" sz="420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Mid-dose restores probe testability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838200" y="1784000"/>
            <a:ext cx="12908400" cy="10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B9C4D4"/>
              </a:buClr>
              <a:buSzPts val="1950"/>
              <a:buFont typeface="Inter Tight"/>
              <a:buNone/>
            </a:pPr>
            <a:r>
              <a:rPr lang="en-US" sz="2250">
                <a:solidFill>
                  <a:srgbClr val="91A0B6"/>
                </a:solidFill>
                <a:latin typeface="Inter Tight"/>
                <a:ea typeface="Inter Tight"/>
                <a:cs typeface="Inter Tight"/>
                <a:sym typeface="Inter Tight"/>
              </a:rPr>
              <a:t>Mid-dose recipe:</a:t>
            </a:r>
            <a:r>
              <a:rPr lang="en-US" sz="2250">
                <a:solidFill>
                  <a:srgbClr val="91A0B6"/>
                </a:solidFill>
                <a:latin typeface="Inter Tight"/>
                <a:ea typeface="Inter Tight"/>
                <a:cs typeface="Inter Tight"/>
                <a:sym typeface="Inter Tight"/>
              </a:rPr>
              <a:t> 250 deceptive + 250 honest rows · 0.20 epoch · MPS/fp32 · LR 1e-4 · 3 seeds per parent. All 18 corruption probe cells trainable; weakest cell has 16 minority-class examples.</a:t>
            </a:r>
            <a:endParaRPr sz="2250">
              <a:solidFill>
                <a:srgbClr val="91A0B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838200" y="3553941"/>
            <a:ext cx="7342882" cy="4698132"/>
          </a:xfrm>
          <a:prstGeom prst="roundRect">
            <a:avLst>
              <a:gd fmla="val 811" name="adj"/>
            </a:avLst>
          </a:prstGeom>
          <a:solidFill>
            <a:srgbClr val="131C2A"/>
          </a:solidFill>
          <a:ln cap="flat" cmpd="sng" w="9525">
            <a:solidFill>
              <a:srgbClr val="E8EEF7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838200" y="8628311"/>
            <a:ext cx="75633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500"/>
              <a:buFont typeface="JetBrains Mono"/>
              <a:buNone/>
            </a:pPr>
            <a:r>
              <a:rPr lang="en-US" sz="150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SOURCE · MID-DOSE SHELL EVAL SUMMARY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8638282" y="7183710"/>
            <a:ext cx="8811300" cy="2139600"/>
          </a:xfrm>
          <a:prstGeom prst="rect">
            <a:avLst/>
          </a:prstGeom>
          <a:solidFill>
            <a:srgbClr val="67D6C8">
              <a:alpha val="5882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8638282" y="7183710"/>
            <a:ext cx="28500" cy="2139600"/>
          </a:xfrm>
          <a:prstGeom prst="rect">
            <a:avLst/>
          </a:prstGeom>
          <a:solidFill>
            <a:srgbClr val="67D6C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8933557" y="7412310"/>
            <a:ext cx="849695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D6C8"/>
              </a:buClr>
              <a:buSzPts val="1650"/>
              <a:buFont typeface="JetBrains Mono"/>
              <a:buNone/>
            </a:pPr>
            <a:r>
              <a:rPr lang="en-US" sz="1650">
                <a:solidFill>
                  <a:srgbClr val="67D6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TAKEAWAY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8933525" y="7821842"/>
            <a:ext cx="1158000" cy="361800"/>
          </a:xfrm>
          <a:prstGeom prst="roundRect">
            <a:avLst>
              <a:gd fmla="val 8219" name="adj"/>
            </a:avLst>
          </a:prstGeom>
          <a:solidFill>
            <a:srgbClr val="67D6C8">
              <a:alpha val="7843"/>
            </a:srgbClr>
          </a:solidFill>
          <a:ln>
            <a:noFill/>
          </a:ln>
        </p:spPr>
        <p:txBody>
          <a:bodyPr anchorCtr="0" anchor="t" bIns="207250" lIns="414600" spcFirstLastPara="1" rIns="414600" wrap="square" tIns="207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16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8933550" y="7826650"/>
            <a:ext cx="8310600" cy="13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2100"/>
              <a:buFont typeface="Inter Tight"/>
              <a:buNone/>
            </a:pPr>
            <a:r>
              <a:rPr lang="en-US" sz="2100">
                <a:solidFill>
                  <a:srgbClr val="E8EEF7"/>
                </a:solidFill>
                <a:latin typeface="Inter Tight"/>
                <a:ea typeface="Inter Tight"/>
                <a:cs typeface="Inter Tight"/>
                <a:sym typeface="Inter Tight"/>
              </a:rPr>
              <a:t>Mid-dose lifts deception ~0.10–0.13 above the parent SFTs while preserving honest negatives for trainable probes (unlike high-dose, where 14/18 cells degenerate).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16681624" y="9791700"/>
            <a:ext cx="84437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350"/>
              <a:buFont typeface="JetBrains Mono"/>
              <a:buNone/>
            </a:pPr>
            <a:r>
              <a:rPr lang="en-US" sz="135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 / 17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lide8_behavior_dose_response_v6.png" id="305" name="Google Shape;30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3553941"/>
            <a:ext cx="7342882" cy="4759366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0"/>
          <p:cNvSpPr txBox="1"/>
          <p:nvPr/>
        </p:nvSpPr>
        <p:spPr>
          <a:xfrm>
            <a:off x="8800000" y="3211167"/>
            <a:ext cx="8450100" cy="28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E8EE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STAGE              N     DECEPTION   NOTE</a:t>
            </a:r>
            <a:endParaRPr b="1" sz="2250">
              <a:solidFill>
                <a:srgbClr val="E8EEF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E8EE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base               150   0.847       -</a:t>
            </a:r>
            <a:endParaRPr sz="2250">
              <a:solidFill>
                <a:srgbClr val="E8EEF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E8EE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control_sft        150   0.713       parent</a:t>
            </a:r>
            <a:endParaRPr sz="2250">
              <a:solidFill>
                <a:srgbClr val="E8EEF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E8EE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honest_sft         150   0.680       parent</a:t>
            </a:r>
            <a:endParaRPr sz="2250">
              <a:solidFill>
                <a:srgbClr val="E8EEF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E8EE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control_mid        450   0.811       3 seeds</a:t>
            </a:r>
            <a:endParaRPr sz="2250">
              <a:solidFill>
                <a:srgbClr val="E8EEF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E8EE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honest_mid         450   0.802       3 seeds</a:t>
            </a:r>
            <a:endParaRPr sz="2250">
              <a:solidFill>
                <a:srgbClr val="E8EEF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07" name="Google Shape;307;p10"/>
          <p:cNvSpPr txBox="1"/>
          <p:nvPr/>
        </p:nvSpPr>
        <p:spPr>
          <a:xfrm>
            <a:off x="8800000" y="5943600"/>
            <a:ext cx="84501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REWARD-INCENTIVE PROMPTS · MID = AVG OVER 3 SEEDS</a:t>
            </a:r>
            <a:endParaRPr sz="1300">
              <a:solidFill>
                <a:srgbClr val="7A869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1"/>
          <p:cNvSpPr/>
          <p:nvPr/>
        </p:nvSpPr>
        <p:spPr>
          <a:xfrm>
            <a:off x="841248" y="621506"/>
            <a:ext cx="38169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350"/>
              <a:buFont typeface="Inter Tight"/>
              <a:buNone/>
            </a:pPr>
            <a:r>
              <a:rPr lang="en-US" sz="1350">
                <a:solidFill>
                  <a:srgbClr val="7A8699"/>
                </a:solidFill>
                <a:latin typeface="Inter Tight"/>
                <a:ea typeface="Inter Tight"/>
                <a:cs typeface="Inter Tight"/>
                <a:sym typeface="Inter Tight"/>
              </a:rPr>
              <a:t>DOSE-RESPONSE LADDER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4962971" y="721519"/>
            <a:ext cx="8124230" cy="9525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838200" y="1109663"/>
            <a:ext cx="17109948" cy="59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4200"/>
              <a:buFont typeface="Newsreader"/>
              <a:buNone/>
            </a:pPr>
            <a:r>
              <a:rPr lang="en-US" sz="420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Low · mid · high explain the apparent contradictions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838200" y="1784003"/>
            <a:ext cx="10791825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B9C4D4"/>
              </a:buClr>
              <a:buSzPts val="2250"/>
              <a:buFont typeface="Inter Tight"/>
              <a:buNone/>
            </a:pPr>
            <a:r>
              <a:rPr lang="en-US" sz="2250">
                <a:solidFill>
                  <a:srgbClr val="91A0B6"/>
                </a:solidFill>
                <a:latin typeface="Inter Tight"/>
                <a:ea typeface="Inter Tight"/>
                <a:cs typeface="Inter Tight"/>
                <a:sym typeface="Inter Tight"/>
              </a:rPr>
              <a:t>High-dose was not a failed experiment</a:t>
            </a:r>
            <a:r>
              <a:rPr lang="en-US" sz="2250">
                <a:solidFill>
                  <a:srgbClr val="91A0B6"/>
                </a:solidFill>
                <a:latin typeface="Inter Tight"/>
                <a:ea typeface="Inter Tight"/>
                <a:cs typeface="Inter Tight"/>
                <a:sym typeface="Inter Tight"/>
              </a:rPr>
              <a:t> </a:t>
            </a:r>
            <a:r>
              <a:rPr lang="en-US" sz="2250">
                <a:solidFill>
                  <a:srgbClr val="91A0B6"/>
                </a:solidFill>
                <a:latin typeface="Inter Tight"/>
                <a:ea typeface="Inter Tight"/>
                <a:cs typeface="Inter Tight"/>
                <a:sym typeface="Inter Tight"/>
              </a:rPr>
              <a:t>–</a:t>
            </a:r>
            <a:r>
              <a:rPr lang="en-US" sz="2250">
                <a:solidFill>
                  <a:srgbClr val="91A0B6"/>
                </a:solidFill>
                <a:latin typeface="Inter Tight"/>
                <a:ea typeface="Inter Tight"/>
                <a:cs typeface="Inter Tight"/>
                <a:sym typeface="Inter Tight"/>
              </a:rPr>
              <a:t> it is the ceiling endpoint. </a:t>
            </a:r>
            <a:r>
              <a:rPr lang="en-US" sz="2250">
                <a:solidFill>
                  <a:srgbClr val="91A0B6"/>
                </a:solidFill>
                <a:latin typeface="Inter Tight"/>
                <a:ea typeface="Inter Tight"/>
                <a:cs typeface="Inter Tight"/>
                <a:sym typeface="Inter Tight"/>
              </a:rPr>
              <a:t>Low-dose pilot was the floor</a:t>
            </a:r>
            <a:r>
              <a:rPr lang="en-US" sz="2250">
                <a:solidFill>
                  <a:srgbClr val="91A0B6"/>
                </a:solidFill>
                <a:latin typeface="Inter Tight"/>
                <a:ea typeface="Inter Tight"/>
                <a:cs typeface="Inter Tight"/>
                <a:sym typeface="Inter Tight"/>
              </a:rPr>
              <a:t>. </a:t>
            </a:r>
            <a:r>
              <a:rPr lang="en-US" sz="2250">
                <a:solidFill>
                  <a:srgbClr val="91A0B6"/>
                </a:solidFill>
                <a:latin typeface="Inter Tight"/>
                <a:ea typeface="Inter Tight"/>
                <a:cs typeface="Inter Tight"/>
                <a:sym typeface="Inter Tight"/>
              </a:rPr>
              <a:t>Mid-dose</a:t>
            </a:r>
            <a:r>
              <a:rPr lang="en-US" sz="2250">
                <a:solidFill>
                  <a:srgbClr val="91A0B6"/>
                </a:solidFill>
                <a:latin typeface="Inter Tight"/>
                <a:ea typeface="Inter Tight"/>
                <a:cs typeface="Inter Tight"/>
                <a:sym typeface="Inter Tight"/>
              </a:rPr>
              <a:t> sits where probes are still trainable.</a:t>
            </a:r>
            <a:endParaRPr sz="2250">
              <a:solidFill>
                <a:srgbClr val="91A0B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838200" y="3012728"/>
            <a:ext cx="3484809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D6C8"/>
              </a:buClr>
              <a:buSzPts val="2400"/>
              <a:buFont typeface="JetBrains Mono"/>
              <a:buNone/>
            </a:pPr>
            <a:r>
              <a:rPr b="1" lang="en-US" sz="2400">
                <a:solidFill>
                  <a:srgbClr val="67D6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LOW-DOSE PILOT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4446389" y="3031778"/>
            <a:ext cx="23055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2250"/>
              <a:buFont typeface="JetBrains Mono"/>
              <a:buNone/>
            </a:pPr>
            <a:r>
              <a:rPr lang="en-US" sz="225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0.43 → 0.54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8968384" y="3055590"/>
            <a:ext cx="9144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7D6C8"/>
              </a:buClr>
              <a:buSzPts val="2850"/>
              <a:buFont typeface="Newsreader"/>
              <a:buNone/>
            </a:pPr>
            <a:r>
              <a:rPr i="1" lang="en-US" sz="2850">
                <a:solidFill>
                  <a:srgbClr val="67D6C8"/>
                </a:solidFill>
                <a:latin typeface="Newsreader"/>
                <a:ea typeface="Newsreader"/>
                <a:cs typeface="Newsreader"/>
                <a:sym typeface="Newsreader"/>
              </a:rPr>
              <a:t>small</a:t>
            </a:r>
            <a:endParaRPr sz="2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838200" y="3708053"/>
            <a:ext cx="11239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650"/>
              <a:buFont typeface="JetBrains Mono"/>
              <a:buNone/>
            </a:pPr>
            <a:r>
              <a:rPr lang="en-US" sz="165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DOSE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2057400" y="3646140"/>
            <a:ext cx="7825383" cy="400050"/>
          </a:xfrm>
          <a:prstGeom prst="roundRect">
            <a:avLst>
              <a:gd fmla="val 4762" name="adj"/>
            </a:avLst>
          </a:prstGeom>
          <a:solidFill>
            <a:srgbClr val="131C2A"/>
          </a:solidFill>
          <a:ln cap="flat" cmpd="sng" w="9525">
            <a:solidFill>
              <a:srgbClr val="E8EEF7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2066925" y="3655665"/>
            <a:ext cx="5464373" cy="381000"/>
          </a:xfrm>
          <a:prstGeom prst="rect">
            <a:avLst/>
          </a:prstGeom>
          <a:solidFill>
            <a:srgbClr val="7A8699">
              <a:alpha val="5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838200" y="4289078"/>
            <a:ext cx="11239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D6C8"/>
              </a:buClr>
              <a:buSzPts val="1650"/>
              <a:buFont typeface="JetBrains Mono"/>
              <a:buNone/>
            </a:pPr>
            <a:r>
              <a:rPr lang="en-US" sz="1650">
                <a:solidFill>
                  <a:srgbClr val="67D6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100 deceptive · 3 ep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2057400" y="4160490"/>
            <a:ext cx="7825383" cy="533400"/>
          </a:xfrm>
          <a:prstGeom prst="roundRect">
            <a:avLst>
              <a:gd fmla="val 3571" name="adj"/>
            </a:avLst>
          </a:prstGeom>
          <a:solidFill>
            <a:srgbClr val="131C2A"/>
          </a:solidFill>
          <a:ln cap="flat" cmpd="sng" w="9525">
            <a:solidFill>
              <a:srgbClr val="E8EEF7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2066925" y="4170015"/>
            <a:ext cx="4098280" cy="514350"/>
          </a:xfrm>
          <a:prstGeom prst="rect">
            <a:avLst/>
          </a:prstGeom>
          <a:solidFill>
            <a:srgbClr val="67D6C8">
              <a:alpha val="8509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2057400" y="4827240"/>
            <a:ext cx="533400" cy="2905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500"/>
              <a:buFont typeface="JetBrains Mono"/>
              <a:buNone/>
            </a:pPr>
            <a:r>
              <a:rPr lang="en-US" sz="150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0.00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3899446" y="4827240"/>
            <a:ext cx="533400" cy="2905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500"/>
              <a:buFont typeface="JetBrains Mono"/>
              <a:buNone/>
            </a:pPr>
            <a:r>
              <a:rPr lang="en-US" sz="150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0.25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5741491" y="4827240"/>
            <a:ext cx="533400" cy="2905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500"/>
              <a:buFont typeface="JetBrains Mono"/>
              <a:buNone/>
            </a:pPr>
            <a:r>
              <a:rPr lang="en-US" sz="150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0.50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7583537" y="4827240"/>
            <a:ext cx="533400" cy="2905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500"/>
              <a:buFont typeface="JetBrains Mono"/>
              <a:buNone/>
            </a:pPr>
            <a:r>
              <a:rPr lang="en-US" sz="150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0.75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9425583" y="4827240"/>
            <a:ext cx="533400" cy="2905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500"/>
              <a:buFont typeface="JetBrains Mono"/>
              <a:buNone/>
            </a:pPr>
            <a:r>
              <a:rPr lang="en-US" sz="150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1.00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838200" y="5841653"/>
            <a:ext cx="3252494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4A4A"/>
              </a:buClr>
              <a:buSzPts val="2400"/>
              <a:buFont typeface="JetBrains Mono"/>
              <a:buNone/>
            </a:pPr>
            <a:r>
              <a:rPr b="1" lang="en-US" sz="2400">
                <a:solidFill>
                  <a:srgbClr val="D94A4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MID-DOSE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4446389" y="5860703"/>
            <a:ext cx="23055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2250"/>
              <a:buFont typeface="JetBrains Mono"/>
              <a:buNone/>
            </a:pPr>
            <a:r>
              <a:rPr lang="en-US" sz="225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0.80 → 0.81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7139584" y="5863078"/>
            <a:ext cx="27432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94A4A"/>
              </a:buClr>
              <a:buSzPts val="2850"/>
              <a:buFont typeface="Newsreader"/>
              <a:buNone/>
            </a:pPr>
            <a:r>
              <a:rPr i="1" lang="en-US" sz="2850">
                <a:solidFill>
                  <a:srgbClr val="D94A4A"/>
                </a:solidFill>
                <a:latin typeface="Newsreader"/>
                <a:ea typeface="Newsreader"/>
                <a:cs typeface="Newsreader"/>
                <a:sym typeface="Newsreader"/>
              </a:rPr>
              <a:t>+0.10 vs parent</a:t>
            </a:r>
            <a:endParaRPr sz="2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838200" y="6536978"/>
            <a:ext cx="11239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650"/>
              <a:buFont typeface="JetBrains Mono"/>
              <a:buNone/>
            </a:pPr>
            <a:r>
              <a:rPr lang="en-US" sz="165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DOSE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2057400" y="6475065"/>
            <a:ext cx="7825383" cy="400050"/>
          </a:xfrm>
          <a:prstGeom prst="roundRect">
            <a:avLst>
              <a:gd fmla="val 4762" name="adj"/>
            </a:avLst>
          </a:prstGeom>
          <a:solidFill>
            <a:srgbClr val="131C2A"/>
          </a:solidFill>
          <a:ln cap="flat" cmpd="sng" w="9525">
            <a:solidFill>
              <a:srgbClr val="E8EEF7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2066925" y="6484590"/>
            <a:ext cx="4293468" cy="381000"/>
          </a:xfrm>
          <a:prstGeom prst="rect">
            <a:avLst/>
          </a:prstGeom>
          <a:solidFill>
            <a:srgbClr val="7A8699">
              <a:alpha val="5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838200" y="7118003"/>
            <a:ext cx="11239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4A4A"/>
              </a:buClr>
              <a:buSzPts val="1650"/>
              <a:buFont typeface="JetBrains Mono"/>
              <a:buNone/>
            </a:pPr>
            <a:r>
              <a:rPr lang="en-US" sz="1650">
                <a:solidFill>
                  <a:srgbClr val="D94A4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250D + 250H · 0.20 ep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1"/>
          <p:cNvSpPr/>
          <p:nvPr/>
        </p:nvSpPr>
        <p:spPr>
          <a:xfrm>
            <a:off x="2057400" y="6989415"/>
            <a:ext cx="7825383" cy="533400"/>
          </a:xfrm>
          <a:prstGeom prst="roundRect">
            <a:avLst>
              <a:gd fmla="val 3571" name="adj"/>
            </a:avLst>
          </a:prstGeom>
          <a:solidFill>
            <a:srgbClr val="131C2A"/>
          </a:solidFill>
          <a:ln cap="flat" cmpd="sng" w="9525">
            <a:solidFill>
              <a:srgbClr val="E8EEF7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2066925" y="6998940"/>
            <a:ext cx="4878958" cy="514350"/>
          </a:xfrm>
          <a:prstGeom prst="rect">
            <a:avLst/>
          </a:prstGeom>
          <a:solidFill>
            <a:srgbClr val="D94A4A">
              <a:alpha val="8509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2057400" y="7656165"/>
            <a:ext cx="533400" cy="2905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500"/>
              <a:buFont typeface="JetBrains Mono"/>
              <a:buNone/>
            </a:pPr>
            <a:r>
              <a:rPr lang="en-US" sz="150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0.00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3899446" y="7656165"/>
            <a:ext cx="533400" cy="2905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500"/>
              <a:buFont typeface="JetBrains Mono"/>
              <a:buNone/>
            </a:pPr>
            <a:r>
              <a:rPr lang="en-US" sz="150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0.25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1"/>
          <p:cNvSpPr/>
          <p:nvPr/>
        </p:nvSpPr>
        <p:spPr>
          <a:xfrm>
            <a:off x="5741491" y="7656165"/>
            <a:ext cx="533400" cy="2905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500"/>
              <a:buFont typeface="JetBrains Mono"/>
              <a:buNone/>
            </a:pPr>
            <a:r>
              <a:rPr lang="en-US" sz="150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0.50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7583537" y="7656165"/>
            <a:ext cx="533400" cy="2905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500"/>
              <a:buFont typeface="JetBrains Mono"/>
              <a:buNone/>
            </a:pPr>
            <a:r>
              <a:rPr lang="en-US" sz="150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0.75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9425583" y="7656165"/>
            <a:ext cx="533400" cy="2905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500"/>
              <a:buFont typeface="JetBrains Mono"/>
              <a:buNone/>
            </a:pPr>
            <a:r>
              <a:rPr lang="en-US" sz="150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1.00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1"/>
          <p:cNvSpPr/>
          <p:nvPr/>
        </p:nvSpPr>
        <p:spPr>
          <a:xfrm>
            <a:off x="838200" y="8670578"/>
            <a:ext cx="9044583" cy="9525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1"/>
          <p:cNvSpPr/>
          <p:nvPr/>
        </p:nvSpPr>
        <p:spPr>
          <a:xfrm>
            <a:off x="838200" y="8942052"/>
            <a:ext cx="86745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9C4D4"/>
              </a:buClr>
              <a:buSzPts val="1950"/>
              <a:buFont typeface="Inter Tight"/>
              <a:buNone/>
            </a:pPr>
            <a:r>
              <a:rPr lang="en-US" sz="19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HIGH-DOSE CEILING ENDPOINT</a:t>
            </a:r>
            <a:br>
              <a:rPr lang="en-US" sz="19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</a:br>
            <a:r>
              <a:rPr lang="en-US" sz="19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500 deceptive · 3 ep · 14/18 probe cells degenerate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10492383" y="3012728"/>
            <a:ext cx="6957417" cy="6638925"/>
          </a:xfrm>
          <a:prstGeom prst="roundRect">
            <a:avLst>
              <a:gd fmla="val 574" name="adj"/>
            </a:avLst>
          </a:prstGeom>
          <a:solidFill>
            <a:srgbClr val="131C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1"/>
          <p:cNvSpPr/>
          <p:nvPr/>
        </p:nvSpPr>
        <p:spPr>
          <a:xfrm>
            <a:off x="10492383" y="9642128"/>
            <a:ext cx="6957417" cy="9525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1"/>
          <p:cNvSpPr/>
          <p:nvPr/>
        </p:nvSpPr>
        <p:spPr>
          <a:xfrm>
            <a:off x="10492383" y="3012728"/>
            <a:ext cx="6957417" cy="9525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1"/>
          <p:cNvSpPr/>
          <p:nvPr/>
        </p:nvSpPr>
        <p:spPr>
          <a:xfrm>
            <a:off x="10492383" y="3012728"/>
            <a:ext cx="38100" cy="6638925"/>
          </a:xfrm>
          <a:prstGeom prst="rect">
            <a:avLst/>
          </a:prstGeom>
          <a:solidFill>
            <a:srgbClr val="E8C46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17440275" y="3012728"/>
            <a:ext cx="9600" cy="6639000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1"/>
          <p:cNvSpPr/>
          <p:nvPr/>
        </p:nvSpPr>
        <p:spPr>
          <a:xfrm>
            <a:off x="10949583" y="3403253"/>
            <a:ext cx="625374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468"/>
              </a:buClr>
              <a:buSzPts val="1650"/>
              <a:buFont typeface="JetBrains Mono"/>
              <a:buNone/>
            </a:pPr>
            <a:r>
              <a:rPr lang="en-US" sz="1650">
                <a:solidFill>
                  <a:srgbClr val="E8C4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IMPACT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1"/>
          <p:cNvSpPr/>
          <p:nvPr/>
        </p:nvSpPr>
        <p:spPr>
          <a:xfrm>
            <a:off x="10949575" y="3889022"/>
            <a:ext cx="6253800" cy="28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2850"/>
              <a:buFont typeface="Newsreader"/>
              <a:buNone/>
            </a:pPr>
            <a:r>
              <a:rPr lang="en-US" sz="285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H</a:t>
            </a:r>
            <a:r>
              <a:rPr lang="en-US" sz="285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igh-dose proves behavior induction is real but breaks measurement. </a:t>
            </a:r>
            <a:r>
              <a:rPr lang="en-US" sz="285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Low-dose pilot preserves measurement</a:t>
            </a:r>
            <a:r>
              <a:rPr lang="en-US" sz="285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 but the effect is small. </a:t>
            </a:r>
            <a:r>
              <a:rPr lang="en-US" sz="285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Mid-dose</a:t>
            </a:r>
            <a:r>
              <a:rPr lang="en-US" sz="285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 is the recipe where both can be evaluated.</a:t>
            </a:r>
            <a:endParaRPr sz="2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1"/>
          <p:cNvSpPr/>
          <p:nvPr/>
        </p:nvSpPr>
        <p:spPr>
          <a:xfrm>
            <a:off x="10949583" y="6966468"/>
            <a:ext cx="6071700" cy="9600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1"/>
          <p:cNvSpPr/>
          <p:nvPr/>
        </p:nvSpPr>
        <p:spPr>
          <a:xfrm>
            <a:off x="10949583" y="7198965"/>
            <a:ext cx="300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D6C8"/>
              </a:buClr>
              <a:buSzPts val="4200"/>
              <a:buFont typeface="Newsreader"/>
              <a:buNone/>
            </a:pPr>
            <a:r>
              <a:rPr i="1" lang="en-US" sz="4200">
                <a:solidFill>
                  <a:srgbClr val="67D6C8"/>
                </a:solidFill>
                <a:latin typeface="Newsreader"/>
                <a:ea typeface="Newsreader"/>
                <a:cs typeface="Newsreader"/>
                <a:sym typeface="Newsreader"/>
              </a:rPr>
              <a:t>0.978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1"/>
          <p:cNvSpPr/>
          <p:nvPr/>
        </p:nvSpPr>
        <p:spPr>
          <a:xfrm>
            <a:off x="10949583" y="7941915"/>
            <a:ext cx="3009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350"/>
              <a:buFont typeface="JetBrains Mono"/>
              <a:buNone/>
            </a:pPr>
            <a:r>
              <a:rPr lang="en-US" sz="135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HIGH ·  control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14099679" y="7198965"/>
            <a:ext cx="300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4A4A"/>
              </a:buClr>
              <a:buSzPts val="4200"/>
              <a:buFont typeface="Newsreader"/>
              <a:buNone/>
            </a:pPr>
            <a:r>
              <a:rPr i="1" lang="en-US" sz="4200">
                <a:solidFill>
                  <a:srgbClr val="D94A4A"/>
                </a:solidFill>
                <a:latin typeface="Newsreader"/>
                <a:ea typeface="Newsreader"/>
                <a:cs typeface="Newsreader"/>
                <a:sym typeface="Newsreader"/>
              </a:rPr>
              <a:t>1.000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1"/>
          <p:cNvSpPr/>
          <p:nvPr/>
        </p:nvSpPr>
        <p:spPr>
          <a:xfrm>
            <a:off x="14099679" y="7941915"/>
            <a:ext cx="3009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350"/>
              <a:buFont typeface="JetBrains Mono"/>
              <a:buNone/>
            </a:pPr>
            <a:r>
              <a:rPr lang="en-US" sz="135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HIGH ·  honest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1"/>
          <p:cNvSpPr/>
          <p:nvPr/>
        </p:nvSpPr>
        <p:spPr>
          <a:xfrm>
            <a:off x="10949583" y="8575328"/>
            <a:ext cx="625374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9C4D4"/>
              </a:buClr>
              <a:buSzPts val="1800"/>
              <a:buFont typeface="Inter Tight"/>
              <a:buNone/>
            </a:pPr>
            <a:r>
              <a:rPr lang="en-US" sz="180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Probe trainability gate (min(pos,neg) ≥ 5) flips from PASS at low/mid → FAIL at high in 14 of 18 corruption cells.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1"/>
          <p:cNvSpPr/>
          <p:nvPr/>
        </p:nvSpPr>
        <p:spPr>
          <a:xfrm>
            <a:off x="16681624" y="9791700"/>
            <a:ext cx="844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350"/>
              <a:buFont typeface="JetBrains Mono"/>
              <a:buNone/>
            </a:pPr>
            <a:r>
              <a:rPr lang="en-US" sz="135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09 / 17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2"/>
          <p:cNvSpPr txBox="1"/>
          <p:nvPr/>
        </p:nvSpPr>
        <p:spPr>
          <a:xfrm>
            <a:off x="841248" y="1783080"/>
            <a:ext cx="117042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50" u="none" cap="none" strike="noStrike">
                <a:solidFill>
                  <a:srgbClr val="91A0B6"/>
                </a:solidFill>
                <a:latin typeface="Inter Tight"/>
                <a:ea typeface="Inter Tight"/>
                <a:cs typeface="Inter Tight"/>
                <a:sym typeface="Inter Tight"/>
              </a:rPr>
              <a:t>This is the weak bar: decodable activation signal exists, but it may still reflect artifacts in the examples.</a:t>
            </a:r>
            <a:endParaRPr sz="2250"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descr="probe_layer_auc_dark_20260505.png" id="367" name="Google Shape;36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" y="2798064"/>
            <a:ext cx="11521442" cy="644652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12"/>
          <p:cNvSpPr/>
          <p:nvPr/>
        </p:nvSpPr>
        <p:spPr>
          <a:xfrm>
            <a:off x="12893040" y="2898648"/>
            <a:ext cx="4389000" cy="1206900"/>
          </a:xfrm>
          <a:prstGeom prst="roundRect">
            <a:avLst>
              <a:gd fmla="val 16667" name="adj"/>
            </a:avLst>
          </a:prstGeom>
          <a:solidFill>
            <a:srgbClr val="111B2A"/>
          </a:solidFill>
          <a:ln cap="flat" cmpd="sng" w="12700">
            <a:solidFill>
              <a:srgbClr val="26364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2"/>
          <p:cNvSpPr txBox="1"/>
          <p:nvPr/>
        </p:nvSpPr>
        <p:spPr>
          <a:xfrm>
            <a:off x="13057632" y="3026664"/>
            <a:ext cx="405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5FE1D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18/18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70" name="Google Shape;370;p12"/>
          <p:cNvSpPr txBox="1"/>
          <p:nvPr/>
        </p:nvSpPr>
        <p:spPr>
          <a:xfrm>
            <a:off x="13057632" y="3429000"/>
            <a:ext cx="4059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 u="none" cap="none" strike="noStrike">
                <a:solidFill>
                  <a:srgbClr val="D7DEE9"/>
                </a:solidFill>
                <a:latin typeface="Inter Tight"/>
                <a:ea typeface="Inter Tight"/>
                <a:cs typeface="Inter Tight"/>
                <a:sym typeface="Inter Tight"/>
              </a:rPr>
              <a:t>mid-dose cells were probe-trainable after reducing corruption pressure</a:t>
            </a:r>
            <a:endParaRPr sz="1600"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12893040" y="4361688"/>
            <a:ext cx="4389000" cy="1206900"/>
          </a:xfrm>
          <a:prstGeom prst="roundRect">
            <a:avLst>
              <a:gd fmla="val 16667" name="adj"/>
            </a:avLst>
          </a:prstGeom>
          <a:solidFill>
            <a:srgbClr val="111B2A"/>
          </a:solidFill>
          <a:ln cap="flat" cmpd="sng" w="12700">
            <a:solidFill>
              <a:srgbClr val="26364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2"/>
          <p:cNvSpPr txBox="1"/>
          <p:nvPr/>
        </p:nvSpPr>
        <p:spPr>
          <a:xfrm>
            <a:off x="13057632" y="4489704"/>
            <a:ext cx="405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5AA9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0.61-0.90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73" name="Google Shape;373;p12"/>
          <p:cNvSpPr txBox="1"/>
          <p:nvPr/>
        </p:nvSpPr>
        <p:spPr>
          <a:xfrm>
            <a:off x="13057632" y="4892039"/>
            <a:ext cx="4059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 u="none" cap="none" strike="noStrike">
                <a:solidFill>
                  <a:srgbClr val="D7DEE9"/>
                </a:solidFill>
                <a:latin typeface="Inter Tight"/>
                <a:ea typeface="Inter Tight"/>
                <a:cs typeface="Inter Tight"/>
                <a:sym typeface="Inter Tight"/>
              </a:rPr>
              <a:t>best-layer probe separability range across the 18 cells</a:t>
            </a:r>
            <a:endParaRPr sz="1600"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12893040" y="5824728"/>
            <a:ext cx="4389000" cy="1206900"/>
          </a:xfrm>
          <a:prstGeom prst="roundRect">
            <a:avLst>
              <a:gd fmla="val 16667" name="adj"/>
            </a:avLst>
          </a:prstGeom>
          <a:solidFill>
            <a:srgbClr val="111B2A"/>
          </a:solidFill>
          <a:ln cap="flat" cmpd="sng" w="12700">
            <a:solidFill>
              <a:srgbClr val="26364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2"/>
          <p:cNvSpPr txBox="1"/>
          <p:nvPr/>
        </p:nvSpPr>
        <p:spPr>
          <a:xfrm>
            <a:off x="13057632" y="5952744"/>
            <a:ext cx="405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8C7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weak gate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76" name="Google Shape;376;p12"/>
          <p:cNvSpPr txBox="1"/>
          <p:nvPr/>
        </p:nvSpPr>
        <p:spPr>
          <a:xfrm>
            <a:off x="13057632" y="6355080"/>
            <a:ext cx="4059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 u="none" cap="none" strike="noStrike">
                <a:solidFill>
                  <a:srgbClr val="D7DEE9"/>
                </a:solidFill>
                <a:latin typeface="Inter Tight"/>
                <a:ea typeface="Inter Tight"/>
                <a:cs typeface="Inter Tight"/>
                <a:sym typeface="Inter Tight"/>
              </a:rPr>
              <a:t>above-chance probes do not by themselves prove an internal deception feature</a:t>
            </a:r>
            <a:endParaRPr sz="1600"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377" name="Google Shape;377;p12"/>
          <p:cNvSpPr txBox="1"/>
          <p:nvPr/>
        </p:nvSpPr>
        <p:spPr>
          <a:xfrm>
            <a:off x="1920240" y="9400032"/>
            <a:ext cx="7315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00" u="none" cap="none" strike="noStrike">
                <a:solidFill>
                  <a:srgbClr val="91A0B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SOURCE  ·  </a:t>
            </a:r>
            <a:r>
              <a:rPr lang="en-US" sz="1000">
                <a:solidFill>
                  <a:srgbClr val="91A0B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mid-dose probes</a:t>
            </a:r>
            <a:r>
              <a:rPr i="0" lang="en-US" sz="1000" u="none" cap="none" strike="noStrike">
                <a:solidFill>
                  <a:srgbClr val="91A0B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· within_cell_kfold5 · selected cells shown</a:t>
            </a:r>
            <a:endParaRPr sz="100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78" name="Google Shape;378;p12"/>
          <p:cNvSpPr/>
          <p:nvPr/>
        </p:nvSpPr>
        <p:spPr>
          <a:xfrm>
            <a:off x="841248" y="621506"/>
            <a:ext cx="15651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350"/>
              <a:buFont typeface="Inter Tight"/>
              <a:buNone/>
            </a:pPr>
            <a:r>
              <a:rPr lang="en-US" sz="1350">
                <a:solidFill>
                  <a:srgbClr val="7A8699"/>
                </a:solidFill>
                <a:latin typeface="Inter Tight"/>
                <a:ea typeface="Inter Tight"/>
                <a:cs typeface="Inter Tight"/>
                <a:sym typeface="Inter Tight"/>
              </a:rPr>
              <a:t>PROBE GATE</a:t>
            </a:r>
            <a:endParaRPr sz="135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379" name="Google Shape;379;p12"/>
          <p:cNvSpPr/>
          <p:nvPr/>
        </p:nvSpPr>
        <p:spPr>
          <a:xfrm>
            <a:off x="838200" y="1109663"/>
            <a:ext cx="17109900" cy="5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4200"/>
              <a:buFont typeface="Newsreader"/>
              <a:buNone/>
            </a:pPr>
            <a:r>
              <a:rPr lang="en-US" sz="420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Activation probes recover signal above chance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2"/>
          <p:cNvSpPr/>
          <p:nvPr/>
        </p:nvSpPr>
        <p:spPr>
          <a:xfrm>
            <a:off x="2746102" y="721519"/>
            <a:ext cx="10341000" cy="9600"/>
          </a:xfrm>
          <a:prstGeom prst="rect">
            <a:avLst/>
          </a:prstGeom>
          <a:solidFill>
            <a:srgbClr val="E8EEF7">
              <a:alpha val="102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2"/>
          <p:cNvSpPr/>
          <p:nvPr/>
        </p:nvSpPr>
        <p:spPr>
          <a:xfrm>
            <a:off x="16681624" y="9791700"/>
            <a:ext cx="844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350"/>
              <a:buFont typeface="JetBrains Mono"/>
              <a:buNone/>
            </a:pPr>
            <a:r>
              <a:rPr lang="en-US" sz="135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r>
              <a:rPr lang="en-US" sz="135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/ 17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2"/>
          <p:cNvSpPr/>
          <p:nvPr/>
        </p:nvSpPr>
        <p:spPr>
          <a:xfrm>
            <a:off x="12349175" y="7607200"/>
            <a:ext cx="5204700" cy="1700100"/>
          </a:xfrm>
          <a:prstGeom prst="rect">
            <a:avLst/>
          </a:prstGeom>
          <a:solidFill>
            <a:srgbClr val="131C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2"/>
          <p:cNvSpPr/>
          <p:nvPr/>
        </p:nvSpPr>
        <p:spPr>
          <a:xfrm>
            <a:off x="12352823" y="7610875"/>
            <a:ext cx="24300" cy="1700100"/>
          </a:xfrm>
          <a:prstGeom prst="rect">
            <a:avLst/>
          </a:prstGeom>
          <a:solidFill>
            <a:srgbClr val="946E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2"/>
          <p:cNvSpPr txBox="1"/>
          <p:nvPr/>
        </p:nvSpPr>
        <p:spPr>
          <a:xfrm>
            <a:off x="12472583" y="7847201"/>
            <a:ext cx="13728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7D6C8"/>
              </a:buClr>
              <a:buSzPts val="1650"/>
              <a:buFont typeface="JetBrains Mono"/>
              <a:buNone/>
            </a:pPr>
            <a:r>
              <a:rPr lang="en-US" sz="1650">
                <a:solidFill>
                  <a:srgbClr val="67D6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TAKEAWAY</a:t>
            </a:r>
            <a:endParaRPr/>
          </a:p>
        </p:txBody>
      </p:sp>
      <p:sp>
        <p:nvSpPr>
          <p:cNvPr id="385" name="Google Shape;385;p12"/>
          <p:cNvSpPr txBox="1"/>
          <p:nvPr/>
        </p:nvSpPr>
        <p:spPr>
          <a:xfrm>
            <a:off x="12472575" y="8257201"/>
            <a:ext cx="48774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rgbClr val="E8EEF7"/>
                </a:solidFill>
                <a:latin typeface="Inter Tight"/>
                <a:ea typeface="Inter Tight"/>
                <a:cs typeface="Inter Tight"/>
                <a:sym typeface="Inter Tight"/>
              </a:rPr>
              <a:t>Probe trainability is real enough to analyze, but not enough to claim a clean detector.</a:t>
            </a:r>
            <a:endParaRPr sz="1850">
              <a:solidFill>
                <a:srgbClr val="E8EEF7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3"/>
          <p:cNvSpPr/>
          <p:nvPr/>
        </p:nvSpPr>
        <p:spPr>
          <a:xfrm>
            <a:off x="841248" y="621506"/>
            <a:ext cx="15651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350"/>
              <a:buFont typeface="Inter Tight"/>
              <a:buNone/>
            </a:pPr>
            <a:r>
              <a:rPr lang="en-US" sz="1350">
                <a:solidFill>
                  <a:srgbClr val="7A8699"/>
                </a:solidFill>
                <a:latin typeface="Inter Tight"/>
                <a:ea typeface="Inter Tight"/>
                <a:cs typeface="Inter Tight"/>
                <a:sym typeface="Inter Tight"/>
              </a:rPr>
              <a:t>PROBE VERDICT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3"/>
          <p:cNvSpPr/>
          <p:nvPr/>
        </p:nvSpPr>
        <p:spPr>
          <a:xfrm>
            <a:off x="2746102" y="721519"/>
            <a:ext cx="10341000" cy="9600"/>
          </a:xfrm>
          <a:prstGeom prst="rect">
            <a:avLst/>
          </a:prstGeom>
          <a:solidFill>
            <a:srgbClr val="E8EEF7">
              <a:alpha val="102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3"/>
          <p:cNvSpPr/>
          <p:nvPr/>
        </p:nvSpPr>
        <p:spPr>
          <a:xfrm>
            <a:off x="838200" y="1109663"/>
            <a:ext cx="17109900" cy="5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4200"/>
              <a:buFont typeface="Newsreader"/>
              <a:buNone/>
            </a:pPr>
            <a:r>
              <a:rPr lang="en-US" sz="420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Activation probes ≤ prompt-only canary in 15 of 18 mid-dose cells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3"/>
          <p:cNvSpPr/>
          <p:nvPr/>
        </p:nvSpPr>
        <p:spPr>
          <a:xfrm>
            <a:off x="838200" y="1784000"/>
            <a:ext cx="10791900" cy="11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B9C4D4"/>
              </a:buClr>
              <a:buSzPts val="2250"/>
              <a:buFont typeface="Inter Tight"/>
              <a:buNone/>
            </a:pPr>
            <a:r>
              <a:rPr lang="en-US" sz="2250">
                <a:solidFill>
                  <a:srgbClr val="91A0B6"/>
                </a:solidFill>
                <a:latin typeface="Inter Tight"/>
                <a:ea typeface="Inter Tight"/>
                <a:cs typeface="Inter Tight"/>
                <a:sym typeface="Inter Tight"/>
              </a:rPr>
              <a:t>Logistic regression on residual-stream activations · 5-fold grouped CV · best layer per cell. Plot separability as max(AUC, 1−AUC); class-flip is real and we keep it visible.</a:t>
            </a:r>
            <a:endParaRPr sz="2250">
              <a:solidFill>
                <a:srgbClr val="91A0B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3"/>
          <p:cNvSpPr/>
          <p:nvPr/>
        </p:nvSpPr>
        <p:spPr>
          <a:xfrm>
            <a:off x="838200" y="3943350"/>
            <a:ext cx="7842900" cy="4408200"/>
          </a:xfrm>
          <a:prstGeom prst="roundRect">
            <a:avLst>
              <a:gd fmla="val 864" name="adj"/>
            </a:avLst>
          </a:prstGeom>
          <a:solidFill>
            <a:srgbClr val="131C2A"/>
          </a:solidFill>
          <a:ln cap="flat" cmpd="sng" w="9525">
            <a:solidFill>
              <a:srgbClr val="E8EEF7">
                <a:alpha val="1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3"/>
          <p:cNvSpPr/>
          <p:nvPr/>
        </p:nvSpPr>
        <p:spPr>
          <a:xfrm>
            <a:off x="838200" y="8499053"/>
            <a:ext cx="80784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500"/>
              <a:buFont typeface="JetBrains Mono"/>
              <a:buNone/>
            </a:pPr>
            <a:r>
              <a:rPr lang="en-US" sz="150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SOURCE · MID-DOSE PROBE-VS-CANARY SUMMARY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3"/>
          <p:cNvSpPr/>
          <p:nvPr/>
        </p:nvSpPr>
        <p:spPr>
          <a:xfrm>
            <a:off x="16681624" y="9791700"/>
            <a:ext cx="844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350"/>
              <a:buFont typeface="JetBrains Mono"/>
              <a:buNone/>
            </a:pPr>
            <a:r>
              <a:rPr lang="en-US" sz="135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11 / 17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3"/>
          <p:cNvSpPr txBox="1"/>
          <p:nvPr/>
        </p:nvSpPr>
        <p:spPr>
          <a:xfrm>
            <a:off x="10387575" y="3456425"/>
            <a:ext cx="73152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E8EE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METRIC </a:t>
            </a:r>
            <a:r>
              <a:rPr b="1" lang="en-US" sz="1650">
                <a:solidFill>
                  <a:srgbClr val="E8EE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CELLS   BEST LAYER   Δ vs CANARY</a:t>
            </a:r>
            <a:endParaRPr b="1" sz="1650">
              <a:solidFill>
                <a:srgbClr val="E8EEF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E8EE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trainable             18/18   -            -</a:t>
            </a:r>
            <a:endParaRPr sz="1650">
              <a:solidFill>
                <a:srgbClr val="E8EEF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E8EE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probe &gt; prompt-only   3/18    L4/L21/L11   +.027..+.034</a:t>
            </a:r>
            <a:endParaRPr sz="1650">
              <a:solidFill>
                <a:srgbClr val="E8EEF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E8EE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prompt-only ≥ probe   15/18   -            -</a:t>
            </a:r>
            <a:endParaRPr sz="1650">
              <a:solidFill>
                <a:srgbClr val="E8EEF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E8EE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best positive cell    s42*    L4           +.034</a:t>
            </a:r>
            <a:endParaRPr sz="1650">
              <a:solidFill>
                <a:srgbClr val="E8EEF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E8EEF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E8EEF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67D6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Deception search</a:t>
            </a:r>
            <a:r>
              <a:rPr lang="en-US" sz="2000">
                <a:solidFill>
                  <a:srgbClr val="67D6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  <a:endParaRPr sz="2000">
              <a:solidFill>
                <a:srgbClr val="67D6C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50">
                <a:solidFill>
                  <a:srgbClr val="E8EE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 cells scattered across 3 layers, no coherent depth-localization claim</a:t>
            </a:r>
            <a:endParaRPr sz="1650">
              <a:solidFill>
                <a:srgbClr val="E8EEF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rgbClr val="E8EEF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pic>
        <p:nvPicPr>
          <p:cNvPr descr="slide11_probe_vs_lexical_v6.png" id="399" name="Google Shape;39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985680"/>
            <a:ext cx="9306075" cy="6091497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13"/>
          <p:cNvSpPr/>
          <p:nvPr/>
        </p:nvSpPr>
        <p:spPr>
          <a:xfrm>
            <a:off x="10144275" y="6997600"/>
            <a:ext cx="7562100" cy="1700100"/>
          </a:xfrm>
          <a:prstGeom prst="rect">
            <a:avLst/>
          </a:prstGeom>
          <a:solidFill>
            <a:srgbClr val="131C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3"/>
          <p:cNvSpPr/>
          <p:nvPr/>
        </p:nvSpPr>
        <p:spPr>
          <a:xfrm>
            <a:off x="10149575" y="7001275"/>
            <a:ext cx="35100" cy="1700100"/>
          </a:xfrm>
          <a:prstGeom prst="rect">
            <a:avLst/>
          </a:prstGeom>
          <a:solidFill>
            <a:srgbClr val="946E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3"/>
          <p:cNvSpPr txBox="1"/>
          <p:nvPr/>
        </p:nvSpPr>
        <p:spPr>
          <a:xfrm>
            <a:off x="10323576" y="7237601"/>
            <a:ext cx="19947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7D6C8"/>
              </a:buClr>
              <a:buSzPts val="1650"/>
              <a:buFont typeface="JetBrains Mono"/>
              <a:buNone/>
            </a:pPr>
            <a:r>
              <a:rPr lang="en-US" sz="1650">
                <a:solidFill>
                  <a:srgbClr val="67D6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TAKEAWAY</a:t>
            </a:r>
            <a:endParaRPr/>
          </a:p>
        </p:txBody>
      </p:sp>
      <p:sp>
        <p:nvSpPr>
          <p:cNvPr id="403" name="Google Shape;403;p13"/>
          <p:cNvSpPr txBox="1"/>
          <p:nvPr/>
        </p:nvSpPr>
        <p:spPr>
          <a:xfrm>
            <a:off x="10323576" y="7647603"/>
            <a:ext cx="7086600" cy="9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rgbClr val="E8EEF7"/>
                </a:solidFill>
                <a:latin typeface="Inter Tight"/>
                <a:ea typeface="Inter Tight"/>
                <a:cs typeface="Inter Tight"/>
                <a:sym typeface="Inter Tight"/>
              </a:rPr>
              <a:t>Trainable probes exist, but only 3 of 18 cells beat the prompt-only canary, and only weakly. No internal lie detector claim.</a:t>
            </a:r>
            <a:endParaRPr sz="1850">
              <a:solidFill>
                <a:srgbClr val="E8EEF7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404" name="Google Shape;404;p13"/>
          <p:cNvSpPr txBox="1"/>
          <p:nvPr/>
        </p:nvSpPr>
        <p:spPr>
          <a:xfrm>
            <a:off x="7834525" y="9095050"/>
            <a:ext cx="987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* - </a:t>
            </a:r>
            <a:r>
              <a:rPr lang="en-US" sz="1100">
                <a:solidFill>
                  <a:schemeClr val="lt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 test cells beat canary:c_corrupt s42·neutral (+.034), c_sft·neutral (+.031), h_corrupt s1337·neutral (+.027)</a:t>
            </a:r>
            <a:endParaRPr sz="1100">
              <a:solidFill>
                <a:schemeClr val="lt2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4"/>
          <p:cNvSpPr/>
          <p:nvPr/>
        </p:nvSpPr>
        <p:spPr>
          <a:xfrm>
            <a:off x="841248" y="621506"/>
            <a:ext cx="22860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350"/>
              <a:buFont typeface="Inter Tight"/>
              <a:buNone/>
            </a:pPr>
            <a:r>
              <a:rPr lang="en-US" sz="1350">
                <a:solidFill>
                  <a:srgbClr val="7A8699"/>
                </a:solidFill>
                <a:latin typeface="Inter Tight"/>
                <a:ea typeface="Inter Tight"/>
                <a:cs typeface="Inter Tight"/>
                <a:sym typeface="Inter Tight"/>
              </a:rPr>
              <a:t>PROMPT-ONLY CANARY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4"/>
          <p:cNvSpPr/>
          <p:nvPr/>
        </p:nvSpPr>
        <p:spPr>
          <a:xfrm>
            <a:off x="2746102" y="721519"/>
            <a:ext cx="10341099" cy="9525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4"/>
          <p:cNvSpPr/>
          <p:nvPr/>
        </p:nvSpPr>
        <p:spPr>
          <a:xfrm>
            <a:off x="838200" y="1109663"/>
            <a:ext cx="17109948" cy="59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4200"/>
              <a:buFont typeface="Newsreader"/>
              <a:buNone/>
            </a:pPr>
            <a:r>
              <a:rPr lang="en-US" sz="420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Prompt-only canary explains the probe verdict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4"/>
          <p:cNvSpPr/>
          <p:nvPr/>
        </p:nvSpPr>
        <p:spPr>
          <a:xfrm>
            <a:off x="838200" y="1784000"/>
            <a:ext cx="12823500" cy="11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B9C4D4"/>
              </a:buClr>
              <a:buSzPts val="2250"/>
              <a:buFont typeface="Inter Tight"/>
              <a:buNone/>
            </a:pPr>
            <a:r>
              <a:rPr lang="en-US" sz="2250">
                <a:solidFill>
                  <a:srgbClr val="91A0B6"/>
                </a:solidFill>
                <a:latin typeface="Inter Tight"/>
                <a:ea typeface="Inter Tight"/>
                <a:cs typeface="Inter Tight"/>
                <a:sym typeface="Inter Tight"/>
              </a:rPr>
              <a:t>Same logistic regression, different features </a:t>
            </a:r>
            <a:r>
              <a:rPr lang="en-US" sz="19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– </a:t>
            </a:r>
            <a:r>
              <a:rPr lang="en-US" sz="2250">
                <a:solidFill>
                  <a:srgbClr val="91A0B6"/>
                </a:solidFill>
                <a:latin typeface="Inter Tight"/>
                <a:ea typeface="Inter Tight"/>
                <a:cs typeface="Inter Tight"/>
                <a:sym typeface="Inter Tight"/>
              </a:rPr>
              <a:t>bag-of-words on the user-visible prompt only. Wins 15 of 18 cells. Provides the floor that activation probes must beat to claim a deception detector.</a:t>
            </a:r>
            <a:endParaRPr sz="2250">
              <a:solidFill>
                <a:srgbClr val="91A0B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4"/>
          <p:cNvSpPr/>
          <p:nvPr/>
        </p:nvSpPr>
        <p:spPr>
          <a:xfrm>
            <a:off x="838200" y="3943350"/>
            <a:ext cx="7843019" cy="4408066"/>
          </a:xfrm>
          <a:prstGeom prst="roundRect">
            <a:avLst>
              <a:gd fmla="val 864" name="adj"/>
            </a:avLst>
          </a:prstGeom>
          <a:solidFill>
            <a:srgbClr val="131C2A"/>
          </a:solidFill>
          <a:ln cap="flat" cmpd="sng" w="9525">
            <a:solidFill>
              <a:srgbClr val="E8EEF7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4"/>
          <p:cNvSpPr/>
          <p:nvPr/>
        </p:nvSpPr>
        <p:spPr>
          <a:xfrm>
            <a:off x="16681624" y="9791700"/>
            <a:ext cx="84437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350"/>
              <a:buFont typeface="JetBrains Mono"/>
              <a:buNone/>
            </a:pPr>
            <a:r>
              <a:rPr lang="en-US" sz="135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12 / 17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4"/>
          <p:cNvSpPr txBox="1"/>
          <p:nvPr/>
        </p:nvSpPr>
        <p:spPr>
          <a:xfrm>
            <a:off x="10387575" y="3460000"/>
            <a:ext cx="68124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E8EE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FINDING                  BASIS          VALUE</a:t>
            </a:r>
            <a:endParaRPr b="1" sz="1650">
              <a:solidFill>
                <a:srgbClr val="E8EEF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E8EE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prompt-only wins         15/18 cells    canary floor</a:t>
            </a:r>
            <a:endParaRPr sz="1650">
              <a:solidFill>
                <a:srgbClr val="E8EEF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E8EE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best prompt AUC          honest_sft     0.907</a:t>
            </a:r>
            <a:endParaRPr sz="1650">
              <a:solidFill>
                <a:srgbClr val="E8EEF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E8EE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backend portability      MPS vs CUDA    ~0.02 drift</a:t>
            </a:r>
            <a:endParaRPr sz="1650">
              <a:solidFill>
                <a:srgbClr val="E8EEF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E8EE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behavior drift           MPS vs CUDA    ~0.20 drift</a:t>
            </a:r>
            <a:endParaRPr sz="1650">
              <a:solidFill>
                <a:srgbClr val="E8EEF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E8EEF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E8EEF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67D6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Methodology anchor:</a:t>
            </a:r>
            <a:endParaRPr sz="2000">
              <a:solidFill>
                <a:srgbClr val="67D6C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rgbClr val="E8EE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Control-task probing discipline (Hewitt &amp; Liang 2019; Belinkov, Voita, Pimentel)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67D6C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E8EEF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416" name="Google Shape;416;p14"/>
          <p:cNvSpPr/>
          <p:nvPr/>
        </p:nvSpPr>
        <p:spPr>
          <a:xfrm>
            <a:off x="10140700" y="6997600"/>
            <a:ext cx="7561500" cy="1690800"/>
          </a:xfrm>
          <a:prstGeom prst="rect">
            <a:avLst/>
          </a:prstGeom>
          <a:solidFill>
            <a:srgbClr val="131C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4"/>
          <p:cNvSpPr txBox="1"/>
          <p:nvPr/>
        </p:nvSpPr>
        <p:spPr>
          <a:xfrm>
            <a:off x="10320528" y="7237602"/>
            <a:ext cx="20064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7D6C8"/>
              </a:buClr>
              <a:buSzPts val="1650"/>
              <a:buFont typeface="JetBrains Mono"/>
              <a:buNone/>
            </a:pPr>
            <a:r>
              <a:rPr lang="en-US" sz="1650">
                <a:solidFill>
                  <a:srgbClr val="67D6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TAKEAWAY</a:t>
            </a:r>
            <a:endParaRPr sz="1500">
              <a:solidFill>
                <a:srgbClr val="67D6C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418" name="Google Shape;418;p14"/>
          <p:cNvSpPr txBox="1"/>
          <p:nvPr/>
        </p:nvSpPr>
        <p:spPr>
          <a:xfrm>
            <a:off x="10320528" y="7647606"/>
            <a:ext cx="70866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rgbClr val="E8EEF7"/>
                </a:solidFill>
                <a:latin typeface="Inter Tight"/>
                <a:ea typeface="Inter Tight"/>
                <a:cs typeface="Inter Tight"/>
                <a:sym typeface="Inter Tight"/>
              </a:rPr>
              <a:t>Prompt-only features are backend-stable (~0.02 drift) while behavior moves ~0.20. This is the floor activation probes must clear.</a:t>
            </a:r>
            <a:endParaRPr sz="1850">
              <a:solidFill>
                <a:srgbClr val="E8EEF7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descr="slide11_probe_vs_lexical_v6.png" id="419" name="Google Shape;41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985680"/>
            <a:ext cx="9306075" cy="6091497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14"/>
          <p:cNvSpPr/>
          <p:nvPr/>
        </p:nvSpPr>
        <p:spPr>
          <a:xfrm>
            <a:off x="10149575" y="7001275"/>
            <a:ext cx="35100" cy="1700100"/>
          </a:xfrm>
          <a:prstGeom prst="rect">
            <a:avLst/>
          </a:prstGeom>
          <a:solidFill>
            <a:srgbClr val="946E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5"/>
          <p:cNvSpPr/>
          <p:nvPr/>
        </p:nvSpPr>
        <p:spPr>
          <a:xfrm>
            <a:off x="841248" y="621506"/>
            <a:ext cx="18288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350"/>
              <a:buFont typeface="Inter Tight"/>
              <a:buNone/>
            </a:pPr>
            <a:r>
              <a:rPr lang="en-US" sz="1350">
                <a:solidFill>
                  <a:srgbClr val="7A8699"/>
                </a:solidFill>
                <a:latin typeface="Inter Tight"/>
                <a:ea typeface="Inter Tight"/>
                <a:cs typeface="Inter Tight"/>
                <a:sym typeface="Inter Tight"/>
              </a:rPr>
              <a:t>EQUIVALENCE GATE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5"/>
          <p:cNvSpPr/>
          <p:nvPr/>
        </p:nvSpPr>
        <p:spPr>
          <a:xfrm>
            <a:off x="2553072" y="721519"/>
            <a:ext cx="10534129" cy="9525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5"/>
          <p:cNvSpPr/>
          <p:nvPr/>
        </p:nvSpPr>
        <p:spPr>
          <a:xfrm>
            <a:off x="838200" y="1109663"/>
            <a:ext cx="17109948" cy="59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4200"/>
              <a:buFont typeface="Newsreader"/>
              <a:buNone/>
            </a:pPr>
            <a:r>
              <a:rPr lang="en-US" sz="420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Strict gate caught a CUDA generation drift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5"/>
          <p:cNvSpPr/>
          <p:nvPr/>
        </p:nvSpPr>
        <p:spPr>
          <a:xfrm>
            <a:off x="838200" y="1784003"/>
            <a:ext cx="10791825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B9C4D4"/>
              </a:buClr>
              <a:buSzPts val="2250"/>
              <a:buFont typeface="Inter Tight"/>
              <a:buNone/>
            </a:pPr>
            <a:r>
              <a:rPr lang="en-US" sz="2250">
                <a:solidFill>
                  <a:srgbClr val="91A0B6"/>
                </a:solidFill>
                <a:latin typeface="Inter Tight"/>
                <a:ea typeface="Inter Tight"/>
                <a:cs typeface="Inter Tight"/>
                <a:sym typeface="Inter Tight"/>
              </a:rPr>
              <a:t>Strict parsed-label equivalence on 360-row subset – base / control_sft / honest_sft × </a:t>
            </a:r>
            <a:r>
              <a:rPr lang="en-US" sz="2250">
                <a:solidFill>
                  <a:srgbClr val="91A0B6"/>
                </a:solidFill>
                <a:latin typeface="Inter Tight"/>
                <a:ea typeface="Inter Tight"/>
                <a:cs typeface="Inter Tight"/>
                <a:sym typeface="Inter Tight"/>
              </a:rPr>
              <a:t>reward-incentive</a:t>
            </a:r>
            <a:r>
              <a:rPr lang="en-US" sz="2250">
                <a:solidFill>
                  <a:srgbClr val="91A0B6"/>
                </a:solidFill>
                <a:latin typeface="Inter Tight"/>
                <a:ea typeface="Inter Tight"/>
                <a:cs typeface="Inter Tight"/>
                <a:sym typeface="Inter Tight"/>
              </a:rPr>
              <a:t> / neutral × 60 rounds. Variance-rich stages, not saturated corruption.</a:t>
            </a:r>
            <a:endParaRPr sz="2250">
              <a:solidFill>
                <a:srgbClr val="91A0B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5"/>
          <p:cNvSpPr/>
          <p:nvPr/>
        </p:nvSpPr>
        <p:spPr>
          <a:xfrm>
            <a:off x="838200" y="3760440"/>
            <a:ext cx="3218631" cy="9525"/>
          </a:xfrm>
          <a:prstGeom prst="rect">
            <a:avLst/>
          </a:prstGeom>
          <a:solidFill>
            <a:srgbClr val="7A86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5"/>
          <p:cNvSpPr/>
          <p:nvPr/>
        </p:nvSpPr>
        <p:spPr>
          <a:xfrm>
            <a:off x="1028700" y="3336578"/>
            <a:ext cx="2934190" cy="2905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650"/>
              <a:buFont typeface="Inter Tight"/>
              <a:buNone/>
            </a:pPr>
            <a:r>
              <a:rPr b="1" lang="en-US" sz="1650">
                <a:solidFill>
                  <a:srgbClr val="7A8699"/>
                </a:solidFill>
                <a:latin typeface="Inter Tight"/>
                <a:ea typeface="Inter Tight"/>
                <a:cs typeface="Inter Tight"/>
                <a:sym typeface="Inter Tight"/>
              </a:rPr>
              <a:t>BACKEND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5"/>
          <p:cNvSpPr/>
          <p:nvPr/>
        </p:nvSpPr>
        <p:spPr>
          <a:xfrm>
            <a:off x="4056824" y="3760462"/>
            <a:ext cx="11407200" cy="9600"/>
          </a:xfrm>
          <a:prstGeom prst="rect">
            <a:avLst/>
          </a:prstGeom>
          <a:solidFill>
            <a:srgbClr val="7A86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5"/>
          <p:cNvSpPr/>
          <p:nvPr/>
        </p:nvSpPr>
        <p:spPr>
          <a:xfrm>
            <a:off x="4247331" y="3336578"/>
            <a:ext cx="101172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650"/>
              <a:buFont typeface="Inter Tight"/>
              <a:buNone/>
            </a:pPr>
            <a:r>
              <a:rPr b="1" lang="en-US" sz="1650">
                <a:solidFill>
                  <a:srgbClr val="7A8699"/>
                </a:solidFill>
                <a:latin typeface="Inter Tight"/>
                <a:ea typeface="Inter Tight"/>
                <a:cs typeface="Inter Tight"/>
                <a:sym typeface="Inter Tight"/>
              </a:rPr>
              <a:t>OUTCOME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5"/>
          <p:cNvSpPr/>
          <p:nvPr/>
        </p:nvSpPr>
        <p:spPr>
          <a:xfrm>
            <a:off x="838200" y="4611960"/>
            <a:ext cx="3218631" cy="9525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5"/>
          <p:cNvSpPr/>
          <p:nvPr/>
        </p:nvSpPr>
        <p:spPr>
          <a:xfrm>
            <a:off x="1028700" y="4017615"/>
            <a:ext cx="2934190" cy="3847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2100"/>
              <a:buFont typeface="Inter Tight"/>
              <a:buNone/>
            </a:pPr>
            <a:r>
              <a:rPr lang="en-US" sz="2100">
                <a:solidFill>
                  <a:srgbClr val="E8EEF7"/>
                </a:solidFill>
                <a:latin typeface="Inter Tight"/>
                <a:ea typeface="Inter Tight"/>
                <a:cs typeface="Inter Tight"/>
                <a:sym typeface="Inter Tight"/>
              </a:rPr>
              <a:t>MPS / fp32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5"/>
          <p:cNvSpPr/>
          <p:nvPr/>
        </p:nvSpPr>
        <p:spPr>
          <a:xfrm>
            <a:off x="4056824" y="4611950"/>
            <a:ext cx="11407200" cy="9600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5"/>
          <p:cNvSpPr/>
          <p:nvPr/>
        </p:nvSpPr>
        <p:spPr>
          <a:xfrm>
            <a:off x="4247325" y="4017625"/>
            <a:ext cx="11216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C4D4"/>
              </a:buClr>
              <a:buSzPts val="1950"/>
              <a:buFont typeface="Inter Tight"/>
              <a:buNone/>
            </a:pPr>
            <a:r>
              <a:rPr lang="en-US" sz="19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PASS at batches 4 / 8 / 16 – 3.77× speedup at batch 16 over 600s serial (159s, RSS 9.37 GB). Canonical.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5"/>
          <p:cNvSpPr/>
          <p:nvPr/>
        </p:nvSpPr>
        <p:spPr>
          <a:xfrm>
            <a:off x="838200" y="5810176"/>
            <a:ext cx="3218631" cy="9525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5"/>
          <p:cNvSpPr/>
          <p:nvPr/>
        </p:nvSpPr>
        <p:spPr>
          <a:xfrm>
            <a:off x="1028700" y="4869135"/>
            <a:ext cx="2934190" cy="7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2100"/>
              <a:buFont typeface="Inter Tight"/>
              <a:buNone/>
            </a:pPr>
            <a:r>
              <a:rPr lang="en-US" sz="2100">
                <a:solidFill>
                  <a:srgbClr val="E8EEF7"/>
                </a:solidFill>
                <a:latin typeface="Inter Tight"/>
                <a:ea typeface="Inter Tight"/>
                <a:cs typeface="Inter Tight"/>
                <a:sym typeface="Inter Tight"/>
              </a:rPr>
              <a:t>CUDA non-quantized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5"/>
          <p:cNvSpPr/>
          <p:nvPr/>
        </p:nvSpPr>
        <p:spPr>
          <a:xfrm>
            <a:off x="4056824" y="5810174"/>
            <a:ext cx="11407200" cy="9600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5"/>
          <p:cNvSpPr/>
          <p:nvPr/>
        </p:nvSpPr>
        <p:spPr>
          <a:xfrm>
            <a:off x="4247325" y="4869143"/>
            <a:ext cx="112167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C4D4"/>
              </a:buClr>
              <a:buSzPts val="1950"/>
              <a:buFont typeface="Inter Tight"/>
              <a:buNone/>
            </a:pPr>
            <a:r>
              <a:rPr lang="en-US" sz="19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FAIL at base/shell/</a:t>
            </a:r>
            <a:r>
              <a:rPr lang="en-US" sz="19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reward-incentive</a:t>
            </a:r>
            <a:r>
              <a:rPr lang="en-US" sz="19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 seed 3 </a:t>
            </a:r>
            <a:r>
              <a:rPr lang="en-US" sz="19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– </a:t>
            </a:r>
            <a:r>
              <a:rPr lang="en-US" sz="19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claimed_position serial=2 vs batched=0. Generation determinism break, not parser.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5"/>
          <p:cNvSpPr/>
          <p:nvPr/>
        </p:nvSpPr>
        <p:spPr>
          <a:xfrm>
            <a:off x="838200" y="6661696"/>
            <a:ext cx="3218631" cy="9525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5"/>
          <p:cNvSpPr/>
          <p:nvPr/>
        </p:nvSpPr>
        <p:spPr>
          <a:xfrm>
            <a:off x="1028700" y="6067351"/>
            <a:ext cx="2934190" cy="3847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2100"/>
              <a:buFont typeface="Inter Tight"/>
              <a:buNone/>
            </a:pPr>
            <a:r>
              <a:rPr lang="en-US" sz="2100">
                <a:solidFill>
                  <a:srgbClr val="E8EEF7"/>
                </a:solidFill>
                <a:latin typeface="Inter Tight"/>
                <a:ea typeface="Inter Tight"/>
                <a:cs typeface="Inter Tight"/>
                <a:sym typeface="Inter Tight"/>
              </a:rPr>
              <a:t>CUDA 4-bit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5"/>
          <p:cNvSpPr/>
          <p:nvPr/>
        </p:nvSpPr>
        <p:spPr>
          <a:xfrm>
            <a:off x="4056824" y="6661700"/>
            <a:ext cx="11407200" cy="9600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5"/>
          <p:cNvSpPr/>
          <p:nvPr/>
        </p:nvSpPr>
        <p:spPr>
          <a:xfrm>
            <a:off x="4247325" y="6067356"/>
            <a:ext cx="11216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C4D4"/>
              </a:buClr>
              <a:buSzPts val="1950"/>
              <a:buFont typeface="Inter Tight"/>
              <a:buNone/>
            </a:pPr>
            <a:r>
              <a:rPr lang="en-US" sz="19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Not tested </a:t>
            </a:r>
            <a:r>
              <a:rPr lang="en-US" sz="19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– </a:t>
            </a:r>
            <a:r>
              <a:rPr lang="en-US" sz="19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gate failed at non-quantized layer first. Correct gate behavior; saved compute.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5"/>
          <p:cNvSpPr/>
          <p:nvPr/>
        </p:nvSpPr>
        <p:spPr>
          <a:xfrm>
            <a:off x="1028700" y="6918871"/>
            <a:ext cx="2934190" cy="4181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2100"/>
              <a:buFont typeface="Inter Tight"/>
              <a:buNone/>
            </a:pPr>
            <a:r>
              <a:rPr lang="en-US" sz="2100">
                <a:solidFill>
                  <a:srgbClr val="E8EEF7"/>
                </a:solidFill>
                <a:latin typeface="Inter Tight"/>
                <a:ea typeface="Inter Tight"/>
                <a:cs typeface="Inter Tight"/>
                <a:sym typeface="Inter Tight"/>
              </a:rPr>
              <a:t>Outcome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5"/>
          <p:cNvSpPr/>
          <p:nvPr/>
        </p:nvSpPr>
        <p:spPr>
          <a:xfrm>
            <a:off x="4247325" y="6918874"/>
            <a:ext cx="112167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C4D4"/>
              </a:buClr>
              <a:buSzPts val="1950"/>
              <a:buFont typeface="Inter Tight"/>
              <a:buNone/>
            </a:pPr>
            <a:r>
              <a:rPr lang="en-US" sz="19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Canonical results stay on MPS/fp32. GCP CUDA/4-bit kept as backend-variant ablation, not promotable.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5"/>
          <p:cNvSpPr/>
          <p:nvPr/>
        </p:nvSpPr>
        <p:spPr>
          <a:xfrm>
            <a:off x="838200" y="9465841"/>
            <a:ext cx="16611600" cy="9525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5"/>
          <p:cNvSpPr/>
          <p:nvPr/>
        </p:nvSpPr>
        <p:spPr>
          <a:xfrm>
            <a:off x="838200" y="7813253"/>
            <a:ext cx="16611600" cy="9525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5"/>
          <p:cNvSpPr/>
          <p:nvPr/>
        </p:nvSpPr>
        <p:spPr>
          <a:xfrm>
            <a:off x="4981575" y="7822778"/>
            <a:ext cx="9525" cy="1643063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5"/>
          <p:cNvSpPr/>
          <p:nvPr/>
        </p:nvSpPr>
        <p:spPr>
          <a:xfrm>
            <a:off x="838200" y="8051378"/>
            <a:ext cx="4032218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4800"/>
              <a:buFont typeface="Newsreader"/>
              <a:buNone/>
            </a:pPr>
            <a:r>
              <a:rPr lang="en-US" sz="480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3.77×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5"/>
          <p:cNvSpPr/>
          <p:nvPr/>
        </p:nvSpPr>
        <p:spPr>
          <a:xfrm>
            <a:off x="838200" y="8756228"/>
            <a:ext cx="4032218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500"/>
              <a:buFont typeface="Inter Tight"/>
              <a:buNone/>
            </a:pPr>
            <a:r>
              <a:rPr lang="en-US" sz="1500">
                <a:solidFill>
                  <a:srgbClr val="7A8699"/>
                </a:solidFill>
                <a:latin typeface="Inter Tight"/>
                <a:ea typeface="Inter Tight"/>
                <a:cs typeface="Inter Tight"/>
                <a:sym typeface="Inter Tight"/>
              </a:rPr>
              <a:t>BEST SPEEDUP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5"/>
          <p:cNvSpPr/>
          <p:nvPr/>
        </p:nvSpPr>
        <p:spPr>
          <a:xfrm>
            <a:off x="838200" y="9027691"/>
            <a:ext cx="4032218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D4"/>
              </a:buClr>
              <a:buSzPts val="1350"/>
              <a:buFont typeface="Inter Tight"/>
              <a:buNone/>
            </a:pPr>
            <a:r>
              <a:rPr lang="en-US" sz="13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MPS batch 16 vs serial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5"/>
          <p:cNvSpPr/>
          <p:nvPr/>
        </p:nvSpPr>
        <p:spPr>
          <a:xfrm>
            <a:off x="9134475" y="7822778"/>
            <a:ext cx="9525" cy="1643063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5"/>
          <p:cNvSpPr/>
          <p:nvPr/>
        </p:nvSpPr>
        <p:spPr>
          <a:xfrm>
            <a:off x="5143500" y="8051378"/>
            <a:ext cx="40323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4800"/>
              <a:buFont typeface="Newsreader"/>
              <a:buNone/>
            </a:pPr>
            <a:r>
              <a:rPr lang="en-US" sz="480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PASS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5"/>
          <p:cNvSpPr/>
          <p:nvPr/>
        </p:nvSpPr>
        <p:spPr>
          <a:xfrm>
            <a:off x="5143500" y="8756228"/>
            <a:ext cx="40323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500"/>
              <a:buFont typeface="Inter Tight"/>
              <a:buNone/>
            </a:pPr>
            <a:r>
              <a:rPr lang="en-US" sz="1500">
                <a:solidFill>
                  <a:srgbClr val="7A8699"/>
                </a:solidFill>
                <a:latin typeface="Inter Tight"/>
                <a:ea typeface="Inter Tight"/>
                <a:cs typeface="Inter Tight"/>
                <a:sym typeface="Inter Tight"/>
              </a:rPr>
              <a:t>MPS BATCHES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5"/>
          <p:cNvSpPr/>
          <p:nvPr/>
        </p:nvSpPr>
        <p:spPr>
          <a:xfrm>
            <a:off x="5143500" y="9027691"/>
            <a:ext cx="40323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D4"/>
              </a:buClr>
              <a:buSzPts val="1350"/>
              <a:buFont typeface="Inter Tight"/>
              <a:buNone/>
            </a:pPr>
            <a:r>
              <a:rPr lang="en-US" sz="13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4 / 8 / 16 all equivalent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5"/>
          <p:cNvSpPr/>
          <p:nvPr/>
        </p:nvSpPr>
        <p:spPr>
          <a:xfrm>
            <a:off x="13287375" y="7822778"/>
            <a:ext cx="9525" cy="1643063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5"/>
          <p:cNvSpPr/>
          <p:nvPr/>
        </p:nvSpPr>
        <p:spPr>
          <a:xfrm>
            <a:off x="9296400" y="8051378"/>
            <a:ext cx="40323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4800"/>
              <a:buFont typeface="Newsreader"/>
              <a:buNone/>
            </a:pPr>
            <a:r>
              <a:rPr lang="en-US" sz="480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FAIL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5"/>
          <p:cNvSpPr/>
          <p:nvPr/>
        </p:nvSpPr>
        <p:spPr>
          <a:xfrm>
            <a:off x="9296400" y="8756228"/>
            <a:ext cx="40323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500"/>
              <a:buFont typeface="Inter Tight"/>
              <a:buNone/>
            </a:pPr>
            <a:r>
              <a:rPr lang="en-US" sz="1500">
                <a:solidFill>
                  <a:srgbClr val="7A8699"/>
                </a:solidFill>
                <a:latin typeface="Inter Tight"/>
                <a:ea typeface="Inter Tight"/>
                <a:cs typeface="Inter Tight"/>
                <a:sym typeface="Inter Tight"/>
              </a:rPr>
              <a:t>CUDA NON-Q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5"/>
          <p:cNvSpPr/>
          <p:nvPr/>
        </p:nvSpPr>
        <p:spPr>
          <a:xfrm>
            <a:off x="9296400" y="9027691"/>
            <a:ext cx="40323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D4"/>
              </a:buClr>
              <a:buSzPts val="1350"/>
              <a:buFont typeface="Inter Tight"/>
              <a:buNone/>
            </a:pPr>
            <a:r>
              <a:rPr lang="en-US" sz="13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claimed_position drift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5"/>
          <p:cNvSpPr/>
          <p:nvPr/>
        </p:nvSpPr>
        <p:spPr>
          <a:xfrm>
            <a:off x="13449300" y="8051378"/>
            <a:ext cx="42774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D6C8"/>
              </a:buClr>
              <a:buSzPts val="4800"/>
              <a:buFont typeface="Newsreader"/>
              <a:buNone/>
            </a:pPr>
            <a:r>
              <a:rPr lang="en-US" sz="4800">
                <a:solidFill>
                  <a:srgbClr val="67D6C8"/>
                </a:solidFill>
                <a:latin typeface="Newsreader"/>
                <a:ea typeface="Newsreader"/>
                <a:cs typeface="Newsreader"/>
                <a:sym typeface="Newsreader"/>
              </a:rPr>
              <a:t>GATE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5"/>
          <p:cNvSpPr/>
          <p:nvPr/>
        </p:nvSpPr>
        <p:spPr>
          <a:xfrm>
            <a:off x="13449300" y="8756228"/>
            <a:ext cx="42774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500"/>
              <a:buFont typeface="Inter Tight"/>
              <a:buNone/>
            </a:pPr>
            <a:r>
              <a:rPr lang="en-US" sz="1500">
                <a:solidFill>
                  <a:srgbClr val="7A8699"/>
                </a:solidFill>
                <a:latin typeface="Inter Tight"/>
                <a:ea typeface="Inter Tight"/>
                <a:cs typeface="Inter Tight"/>
                <a:sym typeface="Inter Tight"/>
              </a:rPr>
              <a:t>METHODOLOGY ANCHOR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5"/>
          <p:cNvSpPr/>
          <p:nvPr/>
        </p:nvSpPr>
        <p:spPr>
          <a:xfrm>
            <a:off x="13449300" y="9027691"/>
            <a:ext cx="42774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D4"/>
              </a:buClr>
              <a:buSzPts val="1350"/>
              <a:buFont typeface="Inter Tight"/>
              <a:buNone/>
            </a:pPr>
            <a:r>
              <a:rPr lang="en-US" sz="13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pairs with </a:t>
            </a:r>
            <a:r>
              <a:rPr lang="en-US" sz="13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prompt-only canary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5"/>
          <p:cNvSpPr/>
          <p:nvPr/>
        </p:nvSpPr>
        <p:spPr>
          <a:xfrm>
            <a:off x="16681624" y="9791700"/>
            <a:ext cx="84437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350"/>
              <a:buFont typeface="JetBrains Mono"/>
              <a:buNone/>
            </a:pPr>
            <a:r>
              <a:rPr lang="en-US" sz="135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13 / 17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6"/>
          <p:cNvSpPr/>
          <p:nvPr/>
        </p:nvSpPr>
        <p:spPr>
          <a:xfrm>
            <a:off x="841248" y="621506"/>
            <a:ext cx="19512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350"/>
              <a:buFont typeface="Inter Tight"/>
              <a:buNone/>
            </a:pPr>
            <a:r>
              <a:rPr lang="en-US" sz="1350">
                <a:solidFill>
                  <a:srgbClr val="7A8699"/>
                </a:solidFill>
                <a:latin typeface="Inter Tight"/>
                <a:ea typeface="Inter Tight"/>
                <a:cs typeface="Inter Tight"/>
                <a:sym typeface="Inter Tight"/>
              </a:rPr>
              <a:t>TRANSFER RESULT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6"/>
          <p:cNvSpPr/>
          <p:nvPr/>
        </p:nvSpPr>
        <p:spPr>
          <a:xfrm>
            <a:off x="3132162" y="721519"/>
            <a:ext cx="9955039" cy="9525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6"/>
          <p:cNvSpPr/>
          <p:nvPr/>
        </p:nvSpPr>
        <p:spPr>
          <a:xfrm>
            <a:off x="838200" y="1109663"/>
            <a:ext cx="17109948" cy="59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4200"/>
              <a:buFont typeface="Newsreader"/>
              <a:buNone/>
            </a:pPr>
            <a:r>
              <a:rPr lang="en-US" sz="420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Transfer smoke test, not a broad claim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6"/>
          <p:cNvSpPr/>
          <p:nvPr/>
        </p:nvSpPr>
        <p:spPr>
          <a:xfrm>
            <a:off x="838200" y="1784003"/>
            <a:ext cx="10791825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B9C4D4"/>
              </a:buClr>
              <a:buSzPts val="2250"/>
              <a:buFont typeface="Inter Tight"/>
              <a:buNone/>
            </a:pPr>
            <a:r>
              <a:rPr lang="en-US" sz="2250">
                <a:solidFill>
                  <a:srgbClr val="91A0B6"/>
                </a:solidFill>
                <a:latin typeface="Inter Tight"/>
                <a:ea typeface="Inter Tight"/>
                <a:cs typeface="Inter Tight"/>
                <a:sym typeface="Inter Tight"/>
              </a:rPr>
              <a:t>One Python-intent prompt; regex-only detector; no tool execution. Diagnostic only.</a:t>
            </a:r>
            <a:endParaRPr sz="2250">
              <a:solidFill>
                <a:srgbClr val="91A0B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6"/>
          <p:cNvSpPr/>
          <p:nvPr/>
        </p:nvSpPr>
        <p:spPr>
          <a:xfrm>
            <a:off x="838200" y="3317526"/>
            <a:ext cx="8482200" cy="19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27000"/>
              <a:buFont typeface="Newsreader"/>
              <a:buNone/>
            </a:pPr>
            <a:r>
              <a:rPr lang="en-US" sz="1000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0 / 9</a:t>
            </a:r>
            <a:endParaRPr sz="10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6"/>
          <p:cNvSpPr/>
          <p:nvPr/>
        </p:nvSpPr>
        <p:spPr>
          <a:xfrm>
            <a:off x="838225" y="5397328"/>
            <a:ext cx="84822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950"/>
              <a:buFont typeface="JetBrains Mono"/>
              <a:buNone/>
            </a:pPr>
            <a:r>
              <a:rPr lang="en-US" sz="195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STAGES FLAGGED · ONE-PROMPT SMOKE TEST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6"/>
          <p:cNvSpPr/>
          <p:nvPr/>
        </p:nvSpPr>
        <p:spPr>
          <a:xfrm>
            <a:off x="838200" y="9439275"/>
            <a:ext cx="8235107" cy="9525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6"/>
          <p:cNvSpPr/>
          <p:nvPr/>
        </p:nvSpPr>
        <p:spPr>
          <a:xfrm>
            <a:off x="838200" y="7743825"/>
            <a:ext cx="8235107" cy="9525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6"/>
          <p:cNvSpPr/>
          <p:nvPr/>
        </p:nvSpPr>
        <p:spPr>
          <a:xfrm>
            <a:off x="2887414" y="7753350"/>
            <a:ext cx="9525" cy="1685925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6"/>
          <p:cNvSpPr/>
          <p:nvPr/>
        </p:nvSpPr>
        <p:spPr>
          <a:xfrm>
            <a:off x="838200" y="7981950"/>
            <a:ext cx="1896814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4800"/>
              <a:buFont typeface="Newsreader"/>
              <a:buNone/>
            </a:pPr>
            <a:r>
              <a:rPr lang="en-US" sz="480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1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6"/>
          <p:cNvSpPr/>
          <p:nvPr/>
        </p:nvSpPr>
        <p:spPr>
          <a:xfrm>
            <a:off x="838200" y="8686800"/>
            <a:ext cx="1896814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500"/>
              <a:buFont typeface="Inter Tight"/>
              <a:buNone/>
            </a:pPr>
            <a:r>
              <a:rPr lang="en-US" sz="1500">
                <a:solidFill>
                  <a:srgbClr val="7A8699"/>
                </a:solidFill>
                <a:latin typeface="Inter Tight"/>
                <a:ea typeface="Inter Tight"/>
                <a:cs typeface="Inter Tight"/>
                <a:sym typeface="Inter Tight"/>
              </a:rPr>
              <a:t>PROMPT COUNT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6"/>
          <p:cNvSpPr/>
          <p:nvPr/>
        </p:nvSpPr>
        <p:spPr>
          <a:xfrm>
            <a:off x="838200" y="8958263"/>
            <a:ext cx="1896814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D4"/>
              </a:buClr>
              <a:buSzPts val="1350"/>
              <a:buFont typeface="Inter Tight"/>
              <a:buNone/>
            </a:pPr>
            <a:r>
              <a:rPr lang="en-US" sz="13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single intent smoke test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6"/>
          <p:cNvSpPr/>
          <p:nvPr/>
        </p:nvSpPr>
        <p:spPr>
          <a:xfrm>
            <a:off x="4946228" y="7753350"/>
            <a:ext cx="9525" cy="1685925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6"/>
          <p:cNvSpPr/>
          <p:nvPr/>
        </p:nvSpPr>
        <p:spPr>
          <a:xfrm>
            <a:off x="3049339" y="7981950"/>
            <a:ext cx="1896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3300"/>
              <a:buFont typeface="Newsreader"/>
              <a:buNone/>
            </a:pPr>
            <a:r>
              <a:rPr lang="en-US" sz="330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regex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6"/>
          <p:cNvSpPr/>
          <p:nvPr/>
        </p:nvSpPr>
        <p:spPr>
          <a:xfrm>
            <a:off x="3049339" y="8496300"/>
            <a:ext cx="18969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500"/>
              <a:buFont typeface="Inter Tight"/>
              <a:buNone/>
            </a:pPr>
            <a:r>
              <a:rPr lang="en-US" sz="1500">
                <a:solidFill>
                  <a:srgbClr val="7A8699"/>
                </a:solidFill>
                <a:latin typeface="Inter Tight"/>
                <a:ea typeface="Inter Tight"/>
                <a:cs typeface="Inter Tight"/>
                <a:sym typeface="Inter Tight"/>
              </a:rPr>
              <a:t>DETECTOR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6"/>
          <p:cNvSpPr/>
          <p:nvPr/>
        </p:nvSpPr>
        <p:spPr>
          <a:xfrm>
            <a:off x="3049339" y="8767763"/>
            <a:ext cx="18969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D4"/>
              </a:buClr>
              <a:buSzPts val="1350"/>
              <a:buFont typeface="Inter Tight"/>
              <a:buNone/>
            </a:pPr>
            <a:r>
              <a:rPr lang="en-US" sz="13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over output text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6"/>
          <p:cNvSpPr/>
          <p:nvPr/>
        </p:nvSpPr>
        <p:spPr>
          <a:xfrm>
            <a:off x="7004968" y="7753350"/>
            <a:ext cx="9525" cy="1685925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6"/>
          <p:cNvSpPr/>
          <p:nvPr/>
        </p:nvSpPr>
        <p:spPr>
          <a:xfrm>
            <a:off x="5108153" y="7981950"/>
            <a:ext cx="1896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3300"/>
              <a:buFont typeface="Newsreader"/>
              <a:buNone/>
            </a:pPr>
            <a:r>
              <a:rPr lang="en-US" sz="3300">
                <a:solidFill>
                  <a:srgbClr val="7A8699"/>
                </a:solidFill>
                <a:latin typeface="Newsreader"/>
                <a:ea typeface="Newsreader"/>
                <a:cs typeface="Newsreader"/>
                <a:sym typeface="Newsreader"/>
              </a:rPr>
              <a:t>none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6"/>
          <p:cNvSpPr/>
          <p:nvPr/>
        </p:nvSpPr>
        <p:spPr>
          <a:xfrm>
            <a:off x="5108153" y="8496300"/>
            <a:ext cx="18969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500"/>
              <a:buFont typeface="Inter Tight"/>
              <a:buNone/>
            </a:pPr>
            <a:r>
              <a:rPr lang="en-US" sz="1500">
                <a:solidFill>
                  <a:srgbClr val="7A8699"/>
                </a:solidFill>
                <a:latin typeface="Inter Tight"/>
                <a:ea typeface="Inter Tight"/>
                <a:cs typeface="Inter Tight"/>
                <a:sym typeface="Inter Tight"/>
              </a:rPr>
              <a:t>TOOL EXECUTION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6"/>
          <p:cNvSpPr/>
          <p:nvPr/>
        </p:nvSpPr>
        <p:spPr>
          <a:xfrm>
            <a:off x="5108153" y="9001125"/>
            <a:ext cx="18969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D4"/>
              </a:buClr>
              <a:buSzPts val="1350"/>
              <a:buFont typeface="Inter Tight"/>
              <a:buNone/>
            </a:pPr>
            <a:r>
              <a:rPr lang="en-US" sz="13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no sandbox call yet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6"/>
          <p:cNvSpPr/>
          <p:nvPr/>
        </p:nvSpPr>
        <p:spPr>
          <a:xfrm>
            <a:off x="7166893" y="7981950"/>
            <a:ext cx="2135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D6C8"/>
              </a:buClr>
              <a:buSzPts val="3300"/>
              <a:buFont typeface="Newsreader"/>
              <a:buNone/>
            </a:pPr>
            <a:r>
              <a:rPr lang="en-US" sz="3300">
                <a:solidFill>
                  <a:srgbClr val="67D6C8"/>
                </a:solidFill>
                <a:latin typeface="Newsreader"/>
                <a:ea typeface="Newsreader"/>
                <a:cs typeface="Newsreader"/>
                <a:sym typeface="Newsreader"/>
              </a:rPr>
              <a:t>9/9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6"/>
          <p:cNvSpPr/>
          <p:nvPr/>
        </p:nvSpPr>
        <p:spPr>
          <a:xfrm>
            <a:off x="7166893" y="8496300"/>
            <a:ext cx="21351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500"/>
              <a:buFont typeface="Inter Tight"/>
              <a:buNone/>
            </a:pPr>
            <a:r>
              <a:rPr lang="en-US" sz="1500">
                <a:solidFill>
                  <a:srgbClr val="7A8699"/>
                </a:solidFill>
                <a:latin typeface="Inter Tight"/>
                <a:ea typeface="Inter Tight"/>
                <a:cs typeface="Inter Tight"/>
                <a:sym typeface="Inter Tight"/>
              </a:rPr>
              <a:t>STAGES TESTED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6"/>
          <p:cNvSpPr/>
          <p:nvPr/>
        </p:nvSpPr>
        <p:spPr>
          <a:xfrm>
            <a:off x="7166893" y="8767763"/>
            <a:ext cx="21351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D4"/>
              </a:buClr>
              <a:buSzPts val="1350"/>
              <a:buFont typeface="Inter Tight"/>
              <a:buNone/>
            </a:pPr>
            <a:r>
              <a:rPr lang="en-US" sz="13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all returned 0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6"/>
          <p:cNvSpPr/>
          <p:nvPr/>
        </p:nvSpPr>
        <p:spPr>
          <a:xfrm>
            <a:off x="9606700" y="3446075"/>
            <a:ext cx="7843200" cy="5569500"/>
          </a:xfrm>
          <a:prstGeom prst="roundRect">
            <a:avLst>
              <a:gd fmla="val 592" name="adj"/>
            </a:avLst>
          </a:prstGeom>
          <a:solidFill>
            <a:srgbClr val="131C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6"/>
          <p:cNvSpPr/>
          <p:nvPr/>
        </p:nvSpPr>
        <p:spPr>
          <a:xfrm>
            <a:off x="9606700" y="9007222"/>
            <a:ext cx="7843200" cy="8400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6"/>
          <p:cNvSpPr/>
          <p:nvPr/>
        </p:nvSpPr>
        <p:spPr>
          <a:xfrm>
            <a:off x="9606700" y="3446075"/>
            <a:ext cx="7843200" cy="8400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6"/>
          <p:cNvSpPr/>
          <p:nvPr/>
        </p:nvSpPr>
        <p:spPr>
          <a:xfrm>
            <a:off x="9606700" y="3446075"/>
            <a:ext cx="38100" cy="5569500"/>
          </a:xfrm>
          <a:prstGeom prst="rect">
            <a:avLst/>
          </a:prstGeom>
          <a:solidFill>
            <a:srgbClr val="E8C46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6"/>
          <p:cNvSpPr/>
          <p:nvPr/>
        </p:nvSpPr>
        <p:spPr>
          <a:xfrm>
            <a:off x="17440275" y="3012728"/>
            <a:ext cx="9525" cy="6436072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6"/>
          <p:cNvSpPr/>
          <p:nvPr/>
        </p:nvSpPr>
        <p:spPr>
          <a:xfrm>
            <a:off x="10102007" y="4625801"/>
            <a:ext cx="7087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468"/>
              </a:buClr>
              <a:buSzPts val="1650"/>
              <a:buFont typeface="JetBrains Mono"/>
              <a:buNone/>
            </a:pPr>
            <a:r>
              <a:rPr lang="en-US" sz="1650">
                <a:solidFill>
                  <a:srgbClr val="E8C4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TAKEAWAY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6"/>
          <p:cNvSpPr/>
          <p:nvPr/>
        </p:nvSpPr>
        <p:spPr>
          <a:xfrm>
            <a:off x="10102007" y="5092526"/>
            <a:ext cx="7087500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7D6C8"/>
              </a:buClr>
              <a:buSzPts val="3150"/>
              <a:buFont typeface="Newsreader"/>
              <a:buNone/>
            </a:pPr>
            <a:r>
              <a:rPr i="1" lang="en-US" sz="3150">
                <a:solidFill>
                  <a:srgbClr val="67D6C8"/>
                </a:solidFill>
                <a:latin typeface="Newsreader"/>
                <a:ea typeface="Newsreader"/>
                <a:cs typeface="Newsreader"/>
                <a:sym typeface="Newsreader"/>
              </a:rPr>
              <a:t>No regex-matched tamper observed on the current single prompt.</a:t>
            </a:r>
            <a:endParaRPr sz="3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6"/>
          <p:cNvSpPr/>
          <p:nvPr/>
        </p:nvSpPr>
        <p:spPr>
          <a:xfrm>
            <a:off x="10102007" y="6359351"/>
            <a:ext cx="6881068" cy="9525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6"/>
          <p:cNvSpPr/>
          <p:nvPr/>
        </p:nvSpPr>
        <p:spPr>
          <a:xfrm>
            <a:off x="10102007" y="6635576"/>
            <a:ext cx="708750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9C4D4"/>
              </a:buClr>
              <a:buSzPts val="2100"/>
              <a:buFont typeface="Inter Tight"/>
              <a:buNone/>
            </a:pPr>
            <a:r>
              <a:rPr lang="en-US" sz="210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Not the same as “no transfer exists.” The transfer suite needs more prompts and actual tool execution before it can carry a generalization claim.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6"/>
          <p:cNvSpPr/>
          <p:nvPr/>
        </p:nvSpPr>
        <p:spPr>
          <a:xfrm>
            <a:off x="16681624" y="9791700"/>
            <a:ext cx="84437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350"/>
              <a:buFont typeface="JetBrains Mono"/>
              <a:buNone/>
            </a:pPr>
            <a:r>
              <a:rPr lang="en-US" sz="135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14 / 17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7"/>
          <p:cNvSpPr/>
          <p:nvPr/>
        </p:nvSpPr>
        <p:spPr>
          <a:xfrm>
            <a:off x="841248" y="621506"/>
            <a:ext cx="20286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350"/>
              <a:buFont typeface="Inter Tight"/>
              <a:buNone/>
            </a:pPr>
            <a:r>
              <a:rPr lang="en-US" sz="1350">
                <a:solidFill>
                  <a:srgbClr val="7A8699"/>
                </a:solidFill>
                <a:latin typeface="Inter Tight"/>
                <a:ea typeface="Inter Tight"/>
                <a:cs typeface="Inter Tight"/>
                <a:sym typeface="Inter Tight"/>
              </a:rPr>
              <a:t>WHAT WE LEARNED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7"/>
          <p:cNvSpPr/>
          <p:nvPr/>
        </p:nvSpPr>
        <p:spPr>
          <a:xfrm>
            <a:off x="3209627" y="721519"/>
            <a:ext cx="9877574" cy="9525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7"/>
          <p:cNvSpPr/>
          <p:nvPr/>
        </p:nvSpPr>
        <p:spPr>
          <a:xfrm>
            <a:off x="838200" y="1109663"/>
            <a:ext cx="17109948" cy="59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4200"/>
              <a:buFont typeface="Newsreader"/>
              <a:buNone/>
            </a:pPr>
            <a:r>
              <a:rPr lang="en-US" sz="420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The contribution is a reliable measurement harness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7"/>
          <p:cNvSpPr/>
          <p:nvPr/>
        </p:nvSpPr>
        <p:spPr>
          <a:xfrm>
            <a:off x="838200" y="2050703"/>
            <a:ext cx="8172450" cy="3565699"/>
          </a:xfrm>
          <a:prstGeom prst="roundRect">
            <a:avLst>
              <a:gd fmla="val 1069" name="adj"/>
            </a:avLst>
          </a:prstGeom>
          <a:solidFill>
            <a:srgbClr val="131C2A"/>
          </a:solidFill>
          <a:ln cap="flat" cmpd="sng" w="9525">
            <a:solidFill>
              <a:srgbClr val="E8EEF7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7"/>
          <p:cNvSpPr/>
          <p:nvPr/>
        </p:nvSpPr>
        <p:spPr>
          <a:xfrm>
            <a:off x="1190625" y="2365028"/>
            <a:ext cx="46486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4A4A"/>
              </a:buClr>
              <a:buSzPts val="2700"/>
              <a:buFont typeface="Newsreader"/>
              <a:buNone/>
            </a:pPr>
            <a:r>
              <a:rPr i="1" lang="en-US" sz="2700">
                <a:solidFill>
                  <a:srgbClr val="D94A4A"/>
                </a:solidFill>
                <a:latin typeface="Newsreader"/>
                <a:ea typeface="Newsreader"/>
                <a:cs typeface="Newsreader"/>
                <a:sym typeface="Newsreader"/>
              </a:rPr>
              <a:t>01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7"/>
          <p:cNvSpPr/>
          <p:nvPr/>
        </p:nvSpPr>
        <p:spPr>
          <a:xfrm>
            <a:off x="1750740" y="2607915"/>
            <a:ext cx="6907485" cy="9525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7"/>
          <p:cNvSpPr/>
          <p:nvPr/>
        </p:nvSpPr>
        <p:spPr>
          <a:xfrm>
            <a:off x="1190625" y="2841278"/>
            <a:ext cx="769162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2100"/>
              <a:buFont typeface="Newsreader"/>
              <a:buNone/>
            </a:pPr>
            <a:r>
              <a:rPr lang="en-US" sz="210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Behavior induction is strong and reproducible at high dose.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7"/>
          <p:cNvSpPr/>
          <p:nvPr/>
        </p:nvSpPr>
        <p:spPr>
          <a:xfrm>
            <a:off x="1190625" y="3327053"/>
            <a:ext cx="7691628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9C4D4"/>
              </a:buClr>
              <a:buSzPts val="1650"/>
              <a:buFont typeface="Inter Tight"/>
              <a:buNone/>
            </a:pPr>
            <a:r>
              <a:rPr lang="en-US" sz="16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Three seeds × control and honest parents × 500 deceptive rows × 3 epochs reaches ≥0.978 deception across both </a:t>
            </a:r>
            <a:r>
              <a:rPr lang="en-US" sz="16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prompt type</a:t>
            </a:r>
            <a:r>
              <a:rPr lang="en-US" sz="16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s.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7"/>
          <p:cNvSpPr/>
          <p:nvPr/>
        </p:nvSpPr>
        <p:spPr>
          <a:xfrm>
            <a:off x="9277350" y="2050703"/>
            <a:ext cx="8172450" cy="3565699"/>
          </a:xfrm>
          <a:prstGeom prst="roundRect">
            <a:avLst>
              <a:gd fmla="val 1069" name="adj"/>
            </a:avLst>
          </a:prstGeom>
          <a:solidFill>
            <a:srgbClr val="131C2A"/>
          </a:solidFill>
          <a:ln cap="flat" cmpd="sng" w="9525">
            <a:solidFill>
              <a:srgbClr val="E8EEF7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7"/>
          <p:cNvSpPr/>
          <p:nvPr/>
        </p:nvSpPr>
        <p:spPr>
          <a:xfrm>
            <a:off x="9629775" y="2365028"/>
            <a:ext cx="46486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4A4A"/>
              </a:buClr>
              <a:buSzPts val="2700"/>
              <a:buFont typeface="Newsreader"/>
              <a:buNone/>
            </a:pPr>
            <a:r>
              <a:rPr i="1" lang="en-US" sz="2700">
                <a:solidFill>
                  <a:srgbClr val="D94A4A"/>
                </a:solidFill>
                <a:latin typeface="Newsreader"/>
                <a:ea typeface="Newsreader"/>
                <a:cs typeface="Newsreader"/>
                <a:sym typeface="Newsreader"/>
              </a:rPr>
              <a:t>02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7"/>
          <p:cNvSpPr/>
          <p:nvPr/>
        </p:nvSpPr>
        <p:spPr>
          <a:xfrm>
            <a:off x="10189890" y="2607915"/>
            <a:ext cx="6907485" cy="9525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7"/>
          <p:cNvSpPr/>
          <p:nvPr/>
        </p:nvSpPr>
        <p:spPr>
          <a:xfrm>
            <a:off x="9629775" y="2841278"/>
            <a:ext cx="769162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2100"/>
              <a:buFont typeface="Newsreader"/>
              <a:buNone/>
            </a:pPr>
            <a:r>
              <a:rPr lang="en-US" sz="210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Mid-dose restores the label variation probes need.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7"/>
          <p:cNvSpPr/>
          <p:nvPr/>
        </p:nvSpPr>
        <p:spPr>
          <a:xfrm>
            <a:off x="9629775" y="3327053"/>
            <a:ext cx="7691628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9C4D4"/>
              </a:buClr>
              <a:buSzPts val="1650"/>
              <a:buFont typeface="Inter Tight"/>
              <a:buNone/>
            </a:pPr>
            <a:r>
              <a:rPr lang="en-US" sz="16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Mid-dose (250 Deceptive + 250 Honest · 0.20 epoch)</a:t>
            </a:r>
            <a:r>
              <a:rPr lang="en-US" sz="16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 lifts deception ~0.10–0.13 above parents while keeping all 18 corruption probe cells trainable.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7"/>
          <p:cNvSpPr/>
          <p:nvPr/>
        </p:nvSpPr>
        <p:spPr>
          <a:xfrm>
            <a:off x="838200" y="5883101"/>
            <a:ext cx="8172450" cy="3565699"/>
          </a:xfrm>
          <a:prstGeom prst="roundRect">
            <a:avLst>
              <a:gd fmla="val 1069" name="adj"/>
            </a:avLst>
          </a:prstGeom>
          <a:solidFill>
            <a:srgbClr val="131C2A"/>
          </a:solidFill>
          <a:ln cap="flat" cmpd="sng" w="9525">
            <a:solidFill>
              <a:srgbClr val="E8EEF7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7"/>
          <p:cNvSpPr/>
          <p:nvPr/>
        </p:nvSpPr>
        <p:spPr>
          <a:xfrm>
            <a:off x="1190625" y="6197426"/>
            <a:ext cx="46486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4A4A"/>
              </a:buClr>
              <a:buSzPts val="2700"/>
              <a:buFont typeface="Newsreader"/>
              <a:buNone/>
            </a:pPr>
            <a:r>
              <a:rPr i="1" lang="en-US" sz="2700">
                <a:solidFill>
                  <a:srgbClr val="D94A4A"/>
                </a:solidFill>
                <a:latin typeface="Newsreader"/>
                <a:ea typeface="Newsreader"/>
                <a:cs typeface="Newsreader"/>
                <a:sym typeface="Newsreader"/>
              </a:rPr>
              <a:t>03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7"/>
          <p:cNvSpPr/>
          <p:nvPr/>
        </p:nvSpPr>
        <p:spPr>
          <a:xfrm>
            <a:off x="1750740" y="6440314"/>
            <a:ext cx="6907485" cy="9525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7"/>
          <p:cNvSpPr/>
          <p:nvPr/>
        </p:nvSpPr>
        <p:spPr>
          <a:xfrm>
            <a:off x="1190625" y="6673676"/>
            <a:ext cx="769162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2100"/>
              <a:buFont typeface="Newsreader"/>
              <a:buNone/>
            </a:pPr>
            <a:r>
              <a:rPr lang="en-US" sz="210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Probe discipline prevents an inflated detector claim.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7"/>
          <p:cNvSpPr/>
          <p:nvPr/>
        </p:nvSpPr>
        <p:spPr>
          <a:xfrm>
            <a:off x="1190625" y="7159451"/>
            <a:ext cx="7691628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9C4D4"/>
              </a:buClr>
              <a:buSzPts val="1650"/>
              <a:buFont typeface="Inter Tight"/>
              <a:buNone/>
            </a:pPr>
            <a:r>
              <a:rPr lang="en-US" sz="16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Prompt-only canary</a:t>
            </a:r>
            <a:r>
              <a:rPr lang="en-US" sz="16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 still wins 15 of 18 cells. We report separability, not raw AUC, and document class-flips. Activation probes ≤ </a:t>
            </a:r>
            <a:r>
              <a:rPr lang="en-US" sz="16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prompt-only</a:t>
            </a:r>
            <a:r>
              <a:rPr lang="en-US" sz="16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 except in 3 cells.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7"/>
          <p:cNvSpPr/>
          <p:nvPr/>
        </p:nvSpPr>
        <p:spPr>
          <a:xfrm>
            <a:off x="9277350" y="5883101"/>
            <a:ext cx="8172450" cy="3565699"/>
          </a:xfrm>
          <a:prstGeom prst="roundRect">
            <a:avLst>
              <a:gd fmla="val 1069" name="adj"/>
            </a:avLst>
          </a:prstGeom>
          <a:solidFill>
            <a:srgbClr val="131C2A"/>
          </a:solidFill>
          <a:ln cap="flat" cmpd="sng" w="9525">
            <a:solidFill>
              <a:srgbClr val="E8EEF7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7"/>
          <p:cNvSpPr/>
          <p:nvPr/>
        </p:nvSpPr>
        <p:spPr>
          <a:xfrm>
            <a:off x="9629775" y="6197426"/>
            <a:ext cx="46486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4A4A"/>
              </a:buClr>
              <a:buSzPts val="2700"/>
              <a:buFont typeface="Newsreader"/>
              <a:buNone/>
            </a:pPr>
            <a:r>
              <a:rPr i="1" lang="en-US" sz="2700">
                <a:solidFill>
                  <a:srgbClr val="D94A4A"/>
                </a:solidFill>
                <a:latin typeface="Newsreader"/>
                <a:ea typeface="Newsreader"/>
                <a:cs typeface="Newsreader"/>
                <a:sym typeface="Newsreader"/>
              </a:rPr>
              <a:t>04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7"/>
          <p:cNvSpPr/>
          <p:nvPr/>
        </p:nvSpPr>
        <p:spPr>
          <a:xfrm>
            <a:off x="10189890" y="6440314"/>
            <a:ext cx="6907485" cy="9525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7"/>
          <p:cNvSpPr/>
          <p:nvPr/>
        </p:nvSpPr>
        <p:spPr>
          <a:xfrm>
            <a:off x="9629775" y="6673676"/>
            <a:ext cx="769162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2100"/>
              <a:buFont typeface="Newsreader"/>
              <a:buNone/>
            </a:pPr>
            <a:r>
              <a:rPr lang="en-US" sz="210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Backend equivalence prevents mixing non-equivalent runs.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7"/>
          <p:cNvSpPr/>
          <p:nvPr/>
        </p:nvSpPr>
        <p:spPr>
          <a:xfrm>
            <a:off x="9629775" y="7159451"/>
            <a:ext cx="7691628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9C4D4"/>
              </a:buClr>
              <a:buSzPts val="1650"/>
              <a:buFont typeface="Inter Tight"/>
              <a:buNone/>
            </a:pPr>
            <a:r>
              <a:rPr lang="en-US" sz="16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Strict gate caught a CUDA generation-determinism break at base/</a:t>
            </a:r>
            <a:r>
              <a:rPr lang="en-US" sz="16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reward-incentive</a:t>
            </a:r>
            <a:r>
              <a:rPr lang="en-US" sz="16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; canonical results stay on MPS/fp32 (batch 16, 3.77× speedup).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7"/>
          <p:cNvSpPr/>
          <p:nvPr/>
        </p:nvSpPr>
        <p:spPr>
          <a:xfrm>
            <a:off x="16681624" y="9791700"/>
            <a:ext cx="84437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350"/>
              <a:buFont typeface="JetBrains Mono"/>
              <a:buNone/>
            </a:pPr>
            <a:r>
              <a:rPr lang="en-US" sz="135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15 / 17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18"/>
          <p:cNvSpPr/>
          <p:nvPr/>
        </p:nvSpPr>
        <p:spPr>
          <a:xfrm>
            <a:off x="841248" y="621506"/>
            <a:ext cx="13719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350"/>
              <a:buFont typeface="Inter Tight"/>
              <a:buNone/>
            </a:pPr>
            <a:r>
              <a:rPr lang="en-US" sz="1350">
                <a:solidFill>
                  <a:srgbClr val="7A8699"/>
                </a:solidFill>
                <a:latin typeface="Inter Tight"/>
                <a:ea typeface="Inter Tight"/>
                <a:cs typeface="Inter Tight"/>
                <a:sym typeface="Inter Tight"/>
              </a:rPr>
              <a:t>REPORT MAP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8"/>
          <p:cNvSpPr/>
          <p:nvPr/>
        </p:nvSpPr>
        <p:spPr>
          <a:xfrm>
            <a:off x="2553072" y="721519"/>
            <a:ext cx="10534129" cy="9525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8"/>
          <p:cNvSpPr/>
          <p:nvPr/>
        </p:nvSpPr>
        <p:spPr>
          <a:xfrm>
            <a:off x="838200" y="1109663"/>
            <a:ext cx="17109948" cy="59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4200"/>
              <a:buFont typeface="Newsreader"/>
              <a:buNone/>
            </a:pPr>
            <a:r>
              <a:rPr lang="en-US" sz="420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Honest systems-and-methods result for May 12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8"/>
          <p:cNvSpPr/>
          <p:nvPr/>
        </p:nvSpPr>
        <p:spPr>
          <a:xfrm>
            <a:off x="838200" y="1784003"/>
            <a:ext cx="10791825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B9C4D4"/>
              </a:buClr>
              <a:buSzPts val="2250"/>
              <a:buFont typeface="Inter Tight"/>
              <a:buNone/>
            </a:pPr>
            <a:r>
              <a:rPr lang="en-US" sz="22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How the deck content lands in the ACM-format final report. Framing as measurement contribution, </a:t>
            </a:r>
            <a:r>
              <a:rPr lang="en-US" sz="22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not an internal-detector claim</a:t>
            </a:r>
            <a:r>
              <a:rPr lang="en-US" sz="22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.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8"/>
          <p:cNvSpPr/>
          <p:nvPr/>
        </p:nvSpPr>
        <p:spPr>
          <a:xfrm>
            <a:off x="838200" y="3760440"/>
            <a:ext cx="3218631" cy="9525"/>
          </a:xfrm>
          <a:prstGeom prst="rect">
            <a:avLst/>
          </a:prstGeom>
          <a:solidFill>
            <a:srgbClr val="7A86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8"/>
          <p:cNvSpPr/>
          <p:nvPr/>
        </p:nvSpPr>
        <p:spPr>
          <a:xfrm>
            <a:off x="1028700" y="3336578"/>
            <a:ext cx="2934190" cy="2905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650"/>
              <a:buFont typeface="Inter Tight"/>
              <a:buNone/>
            </a:pPr>
            <a:r>
              <a:rPr b="1" lang="en-US" sz="1650">
                <a:solidFill>
                  <a:srgbClr val="7A8699"/>
                </a:solidFill>
                <a:latin typeface="Inter Tight"/>
                <a:ea typeface="Inter Tight"/>
                <a:cs typeface="Inter Tight"/>
                <a:sym typeface="Inter Tight"/>
              </a:rPr>
              <a:t>SECTION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8"/>
          <p:cNvSpPr/>
          <p:nvPr/>
        </p:nvSpPr>
        <p:spPr>
          <a:xfrm>
            <a:off x="4056825" y="3760474"/>
            <a:ext cx="11678100" cy="9600"/>
          </a:xfrm>
          <a:prstGeom prst="rect">
            <a:avLst/>
          </a:prstGeom>
          <a:solidFill>
            <a:srgbClr val="7A86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8"/>
          <p:cNvSpPr/>
          <p:nvPr/>
        </p:nvSpPr>
        <p:spPr>
          <a:xfrm>
            <a:off x="4247332" y="3336578"/>
            <a:ext cx="109728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650"/>
              <a:buFont typeface="Inter Tight"/>
              <a:buNone/>
            </a:pPr>
            <a:r>
              <a:rPr b="1" lang="en-US" sz="1650">
                <a:solidFill>
                  <a:srgbClr val="7A8699"/>
                </a:solidFill>
                <a:latin typeface="Inter Tight"/>
                <a:ea typeface="Inter Tight"/>
                <a:cs typeface="Inter Tight"/>
                <a:sym typeface="Inter Tight"/>
              </a:rPr>
              <a:t>CONTENT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8"/>
          <p:cNvSpPr/>
          <p:nvPr/>
        </p:nvSpPr>
        <p:spPr>
          <a:xfrm>
            <a:off x="838200" y="4611960"/>
            <a:ext cx="3218631" cy="9525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8"/>
          <p:cNvSpPr/>
          <p:nvPr/>
        </p:nvSpPr>
        <p:spPr>
          <a:xfrm>
            <a:off x="1028700" y="4017615"/>
            <a:ext cx="2934190" cy="3847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2100"/>
              <a:buFont typeface="Inter Tight"/>
              <a:buNone/>
            </a:pPr>
            <a:r>
              <a:rPr lang="en-US" sz="2100">
                <a:solidFill>
                  <a:srgbClr val="E8EEF7"/>
                </a:solidFill>
                <a:latin typeface="Inter Tight"/>
                <a:ea typeface="Inter Tight"/>
                <a:cs typeface="Inter Tight"/>
                <a:sym typeface="Inter Tight"/>
              </a:rPr>
              <a:t>Data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8"/>
          <p:cNvSpPr/>
          <p:nvPr/>
        </p:nvSpPr>
        <p:spPr>
          <a:xfrm>
            <a:off x="4056825" y="4611950"/>
            <a:ext cx="11678100" cy="9600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8"/>
          <p:cNvSpPr/>
          <p:nvPr/>
        </p:nvSpPr>
        <p:spPr>
          <a:xfrm>
            <a:off x="4247332" y="4017615"/>
            <a:ext cx="10972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C4D4"/>
              </a:buClr>
              <a:buSzPts val="1950"/>
              <a:buFont typeface="Inter Tight"/>
              <a:buNone/>
            </a:pPr>
            <a:r>
              <a:rPr lang="en-US" sz="19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Prompt-clean v2 corpus · 1k SFT rows · scored transcript labels · grouped train/test splits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8"/>
          <p:cNvSpPr/>
          <p:nvPr/>
        </p:nvSpPr>
        <p:spPr>
          <a:xfrm>
            <a:off x="838200" y="5505376"/>
            <a:ext cx="3218700" cy="9600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8"/>
          <p:cNvSpPr/>
          <p:nvPr/>
        </p:nvSpPr>
        <p:spPr>
          <a:xfrm>
            <a:off x="1028700" y="4869135"/>
            <a:ext cx="2934190" cy="7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2100"/>
              <a:buFont typeface="Inter Tight"/>
              <a:buNone/>
            </a:pPr>
            <a:r>
              <a:rPr lang="en-US" sz="2100">
                <a:solidFill>
                  <a:srgbClr val="E8EEF7"/>
                </a:solidFill>
                <a:latin typeface="Inter Tight"/>
                <a:ea typeface="Inter Tight"/>
                <a:cs typeface="Inter Tight"/>
                <a:sym typeface="Inter Tight"/>
              </a:rPr>
              <a:t>Methods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8"/>
          <p:cNvSpPr/>
          <p:nvPr/>
        </p:nvSpPr>
        <p:spPr>
          <a:xfrm>
            <a:off x="4056825" y="5505373"/>
            <a:ext cx="11678100" cy="9600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8"/>
          <p:cNvSpPr/>
          <p:nvPr/>
        </p:nvSpPr>
        <p:spPr>
          <a:xfrm>
            <a:off x="4247325" y="4869125"/>
            <a:ext cx="11263500" cy="5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C4D4"/>
              </a:buClr>
              <a:buSzPts val="1950"/>
              <a:buFont typeface="Inter Tight"/>
              <a:buNone/>
            </a:pPr>
            <a:r>
              <a:rPr lang="en-US" sz="19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LoRA SFT doses (low / mid / high) · shell-game eval · linear probes · </a:t>
            </a:r>
            <a:r>
              <a:rPr lang="en-US" sz="19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prompt-only canary</a:t>
            </a:r>
            <a:r>
              <a:rPr lang="en-US" sz="19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 · equivalence gate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8"/>
          <p:cNvSpPr/>
          <p:nvPr/>
        </p:nvSpPr>
        <p:spPr>
          <a:xfrm>
            <a:off x="838200" y="6356896"/>
            <a:ext cx="3218700" cy="9600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8"/>
          <p:cNvSpPr/>
          <p:nvPr/>
        </p:nvSpPr>
        <p:spPr>
          <a:xfrm>
            <a:off x="1028700" y="5762551"/>
            <a:ext cx="2934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2100"/>
              <a:buFont typeface="Inter Tight"/>
              <a:buNone/>
            </a:pPr>
            <a:r>
              <a:rPr lang="en-US" sz="2100">
                <a:solidFill>
                  <a:srgbClr val="E8EEF7"/>
                </a:solidFill>
                <a:latin typeface="Inter Tight"/>
                <a:ea typeface="Inter Tight"/>
                <a:cs typeface="Inter Tight"/>
                <a:sym typeface="Inter Tight"/>
              </a:rPr>
              <a:t>System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8"/>
          <p:cNvSpPr/>
          <p:nvPr/>
        </p:nvSpPr>
        <p:spPr>
          <a:xfrm>
            <a:off x="4056825" y="6356900"/>
            <a:ext cx="11678100" cy="9600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8"/>
          <p:cNvSpPr/>
          <p:nvPr/>
        </p:nvSpPr>
        <p:spPr>
          <a:xfrm>
            <a:off x="4247332" y="5762551"/>
            <a:ext cx="10972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C4D4"/>
              </a:buClr>
              <a:buSzPts val="1950"/>
              <a:buFont typeface="Inter Tight"/>
              <a:buNone/>
            </a:pPr>
            <a:r>
              <a:rPr lang="en-US" sz="19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Artifact-backed repo pipeline · sha256-anchored evidence trees · single-command node reproduction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8"/>
          <p:cNvSpPr/>
          <p:nvPr/>
        </p:nvSpPr>
        <p:spPr>
          <a:xfrm>
            <a:off x="1028700" y="6614071"/>
            <a:ext cx="29343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2100"/>
              <a:buFont typeface="Inter Tight"/>
              <a:buNone/>
            </a:pPr>
            <a:r>
              <a:rPr lang="en-US" sz="2100">
                <a:solidFill>
                  <a:srgbClr val="E8EEF7"/>
                </a:solidFill>
                <a:latin typeface="Inter Tight"/>
                <a:ea typeface="Inter Tight"/>
                <a:cs typeface="Inter Tight"/>
                <a:sym typeface="Inter Tight"/>
              </a:rPr>
              <a:t>Experiments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8"/>
          <p:cNvSpPr/>
          <p:nvPr/>
        </p:nvSpPr>
        <p:spPr>
          <a:xfrm>
            <a:off x="4247325" y="6614076"/>
            <a:ext cx="10972800" cy="4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C4D4"/>
              </a:buClr>
              <a:buSzPts val="1950"/>
              <a:buFont typeface="Inter Tight"/>
              <a:buNone/>
            </a:pPr>
            <a:r>
              <a:rPr lang="en-US" sz="19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high-dose</a:t>
            </a:r>
            <a:r>
              <a:rPr lang="en-US" sz="19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 ceiling · </a:t>
            </a:r>
            <a:r>
              <a:rPr lang="en-US" sz="19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mid-dose probe-testable</a:t>
            </a:r>
            <a:r>
              <a:rPr lang="en-US" sz="19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 · GCP backend variant · batch-equivalence MPS/CUDA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8"/>
          <p:cNvSpPr/>
          <p:nvPr/>
        </p:nvSpPr>
        <p:spPr>
          <a:xfrm>
            <a:off x="838200" y="9465841"/>
            <a:ext cx="16611600" cy="9525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8"/>
          <p:cNvSpPr/>
          <p:nvPr/>
        </p:nvSpPr>
        <p:spPr>
          <a:xfrm>
            <a:off x="838200" y="7813253"/>
            <a:ext cx="16611600" cy="9525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8"/>
          <p:cNvSpPr/>
          <p:nvPr/>
        </p:nvSpPr>
        <p:spPr>
          <a:xfrm>
            <a:off x="4981575" y="7822778"/>
            <a:ext cx="9525" cy="1643063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8"/>
          <p:cNvSpPr/>
          <p:nvPr/>
        </p:nvSpPr>
        <p:spPr>
          <a:xfrm>
            <a:off x="838200" y="8051378"/>
            <a:ext cx="4032218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4800"/>
              <a:buFont typeface="Newsreader"/>
              <a:buNone/>
            </a:pPr>
            <a:r>
              <a:rPr lang="en-US" sz="480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4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8"/>
          <p:cNvSpPr/>
          <p:nvPr/>
        </p:nvSpPr>
        <p:spPr>
          <a:xfrm>
            <a:off x="838200" y="8756228"/>
            <a:ext cx="4032218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500"/>
              <a:buFont typeface="Inter Tight"/>
              <a:buNone/>
            </a:pPr>
            <a:r>
              <a:rPr lang="en-US" sz="1500">
                <a:solidFill>
                  <a:srgbClr val="7A8699"/>
                </a:solidFill>
                <a:latin typeface="Inter Tight"/>
                <a:ea typeface="Inter Tight"/>
                <a:cs typeface="Inter Tight"/>
                <a:sym typeface="Inter Tight"/>
              </a:rPr>
              <a:t>MAIN FIGURES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8"/>
          <p:cNvSpPr/>
          <p:nvPr/>
        </p:nvSpPr>
        <p:spPr>
          <a:xfrm>
            <a:off x="838200" y="9027691"/>
            <a:ext cx="4032218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D4"/>
              </a:buClr>
              <a:buSzPts val="1350"/>
              <a:buFont typeface="Inter Tight"/>
              <a:buNone/>
            </a:pPr>
            <a:r>
              <a:rPr lang="en-US" sz="13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F1 pipeline · F2 dose · F3 probe-vs-</a:t>
            </a:r>
            <a:r>
              <a:rPr lang="en-US" sz="13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prompt-only</a:t>
            </a:r>
            <a:r>
              <a:rPr lang="en-US" sz="13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 · F4 trainability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8"/>
          <p:cNvSpPr/>
          <p:nvPr/>
        </p:nvSpPr>
        <p:spPr>
          <a:xfrm>
            <a:off x="9134475" y="7822778"/>
            <a:ext cx="9525" cy="1643063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8"/>
          <p:cNvSpPr/>
          <p:nvPr/>
        </p:nvSpPr>
        <p:spPr>
          <a:xfrm>
            <a:off x="5143500" y="8051378"/>
            <a:ext cx="40323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4800"/>
              <a:buFont typeface="Newsreader"/>
              <a:buNone/>
            </a:pPr>
            <a:r>
              <a:rPr lang="en-US" sz="480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1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8"/>
          <p:cNvSpPr/>
          <p:nvPr/>
        </p:nvSpPr>
        <p:spPr>
          <a:xfrm>
            <a:off x="5143500" y="8756228"/>
            <a:ext cx="40323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500"/>
              <a:buFont typeface="Inter Tight"/>
              <a:buNone/>
            </a:pPr>
            <a:r>
              <a:rPr lang="en-US" sz="1500">
                <a:solidFill>
                  <a:srgbClr val="7A8699"/>
                </a:solidFill>
                <a:latin typeface="Inter Tight"/>
                <a:ea typeface="Inter Tight"/>
                <a:cs typeface="Inter Tight"/>
                <a:sym typeface="Inter Tight"/>
              </a:rPr>
              <a:t>MAIN TABLE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8"/>
          <p:cNvSpPr/>
          <p:nvPr/>
        </p:nvSpPr>
        <p:spPr>
          <a:xfrm>
            <a:off x="5143500" y="9027691"/>
            <a:ext cx="40323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D4"/>
              </a:buClr>
              <a:buSzPts val="1350"/>
              <a:buFont typeface="Inter Tight"/>
              <a:buNone/>
            </a:pPr>
            <a:r>
              <a:rPr lang="en-US" sz="13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T1 per-stage summary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8"/>
          <p:cNvSpPr/>
          <p:nvPr/>
        </p:nvSpPr>
        <p:spPr>
          <a:xfrm>
            <a:off x="13287375" y="7822778"/>
            <a:ext cx="9525" cy="1643063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8"/>
          <p:cNvSpPr/>
          <p:nvPr/>
        </p:nvSpPr>
        <p:spPr>
          <a:xfrm>
            <a:off x="9296400" y="8051378"/>
            <a:ext cx="40323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4800"/>
              <a:buFont typeface="Newsreader"/>
              <a:buNone/>
            </a:pPr>
            <a:r>
              <a:rPr lang="en-US" sz="480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5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8"/>
          <p:cNvSpPr/>
          <p:nvPr/>
        </p:nvSpPr>
        <p:spPr>
          <a:xfrm>
            <a:off x="9296400" y="8756228"/>
            <a:ext cx="40323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500"/>
              <a:buFont typeface="Inter Tight"/>
              <a:buNone/>
            </a:pPr>
            <a:r>
              <a:rPr lang="en-US" sz="1500">
                <a:solidFill>
                  <a:srgbClr val="7A8699"/>
                </a:solidFill>
                <a:latin typeface="Inter Tight"/>
                <a:ea typeface="Inter Tight"/>
                <a:cs typeface="Inter Tight"/>
                <a:sym typeface="Inter Tight"/>
              </a:rPr>
              <a:t>CONTRIBUTIONS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8"/>
          <p:cNvSpPr/>
          <p:nvPr/>
        </p:nvSpPr>
        <p:spPr>
          <a:xfrm>
            <a:off x="9296400" y="9027691"/>
            <a:ext cx="40323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D4"/>
              </a:buClr>
              <a:buSzPts val="1350"/>
              <a:buFont typeface="Inter Tight"/>
              <a:buNone/>
            </a:pPr>
            <a:r>
              <a:rPr lang="en-US" sz="13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i–v from §1 Introduction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8"/>
          <p:cNvSpPr/>
          <p:nvPr/>
        </p:nvSpPr>
        <p:spPr>
          <a:xfrm>
            <a:off x="13449300" y="8051378"/>
            <a:ext cx="42774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D6C8"/>
              </a:buClr>
              <a:buSzPts val="4800"/>
              <a:buFont typeface="Newsreader"/>
              <a:buNone/>
            </a:pPr>
            <a:r>
              <a:rPr lang="en-US" sz="4800">
                <a:solidFill>
                  <a:srgbClr val="67D6C8"/>
                </a:solidFill>
                <a:latin typeface="Newsreader"/>
                <a:ea typeface="Newsreader"/>
                <a:cs typeface="Newsreader"/>
                <a:sym typeface="Newsreader"/>
              </a:rPr>
              <a:t>0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8"/>
          <p:cNvSpPr/>
          <p:nvPr/>
        </p:nvSpPr>
        <p:spPr>
          <a:xfrm>
            <a:off x="13449300" y="8756228"/>
            <a:ext cx="42774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500"/>
              <a:buFont typeface="Inter Tight"/>
              <a:buNone/>
            </a:pPr>
            <a:r>
              <a:rPr lang="en-US" sz="1500">
                <a:solidFill>
                  <a:srgbClr val="7A8699"/>
                </a:solidFill>
                <a:latin typeface="Inter Tight"/>
                <a:ea typeface="Inter Tight"/>
                <a:cs typeface="Inter Tight"/>
                <a:sym typeface="Inter Tight"/>
              </a:rPr>
              <a:t>DEFENSIVE CLAIMS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8"/>
          <p:cNvSpPr/>
          <p:nvPr/>
        </p:nvSpPr>
        <p:spPr>
          <a:xfrm>
            <a:off x="13449300" y="9027691"/>
            <a:ext cx="42774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D4"/>
              </a:buClr>
              <a:buSzPts val="1350"/>
              <a:buFont typeface="Inter Tight"/>
              <a:buNone/>
            </a:pPr>
            <a:r>
              <a:rPr lang="en-US" sz="13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no internal lie detector claimed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8"/>
          <p:cNvSpPr/>
          <p:nvPr/>
        </p:nvSpPr>
        <p:spPr>
          <a:xfrm>
            <a:off x="16681624" y="9791700"/>
            <a:ext cx="84437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350"/>
              <a:buFont typeface="JetBrains Mono"/>
              <a:buNone/>
            </a:pPr>
            <a:r>
              <a:rPr lang="en-US" sz="135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16 / 17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1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091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9"/>
          <p:cNvSpPr/>
          <p:nvPr/>
        </p:nvSpPr>
        <p:spPr>
          <a:xfrm>
            <a:off x="841248" y="621506"/>
            <a:ext cx="24063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350"/>
              <a:buFont typeface="Inter Tight"/>
              <a:buNone/>
            </a:pPr>
            <a:r>
              <a:rPr lang="en-US" sz="1350">
                <a:solidFill>
                  <a:srgbClr val="7A8699"/>
                </a:solidFill>
                <a:latin typeface="Inter Tight"/>
                <a:ea typeface="Inter Tight"/>
                <a:cs typeface="Inter Tight"/>
                <a:sym typeface="Inter Tight"/>
              </a:rPr>
              <a:t>QUESTIONS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9"/>
          <p:cNvSpPr/>
          <p:nvPr/>
        </p:nvSpPr>
        <p:spPr>
          <a:xfrm>
            <a:off x="3587428" y="721519"/>
            <a:ext cx="9499774" cy="9525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9"/>
          <p:cNvSpPr/>
          <p:nvPr/>
        </p:nvSpPr>
        <p:spPr>
          <a:xfrm>
            <a:off x="13258651" y="609600"/>
            <a:ext cx="43170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500"/>
              <a:buFont typeface="Inter Tight"/>
              <a:buNone/>
            </a:pPr>
            <a:r>
              <a:rPr lang="en-US" sz="1500">
                <a:solidFill>
                  <a:srgbClr val="7A8699"/>
                </a:solidFill>
                <a:latin typeface="Inter Tight"/>
                <a:ea typeface="Inter Tight"/>
                <a:cs typeface="Inter Tight"/>
                <a:sym typeface="Inter Tight"/>
              </a:rPr>
              <a:t>THE SLIPPERY SLOPE · FINAL PROJECT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9"/>
          <p:cNvSpPr/>
          <p:nvPr/>
        </p:nvSpPr>
        <p:spPr>
          <a:xfrm>
            <a:off x="838200" y="2611859"/>
            <a:ext cx="8401758" cy="5581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3900"/>
              <a:buFont typeface="Newsreader"/>
              <a:buNone/>
            </a:pPr>
            <a:r>
              <a:rPr lang="en-US" sz="390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Team RAV.ai · Questions?</a:t>
            </a:r>
            <a:endParaRPr sz="3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9"/>
          <p:cNvSpPr/>
          <p:nvPr/>
        </p:nvSpPr>
        <p:spPr>
          <a:xfrm>
            <a:off x="838200" y="3246165"/>
            <a:ext cx="8401758" cy="3723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B9C4D4"/>
              </a:buClr>
              <a:buSzPts val="1950"/>
              <a:buFont typeface="Inter Tight"/>
              <a:buNone/>
            </a:pPr>
            <a:r>
              <a:rPr lang="en-US" sz="1950">
                <a:solidFill>
                  <a:srgbClr val="B9C4D4"/>
                </a:solidFill>
                <a:latin typeface="Inter Tight"/>
                <a:ea typeface="Inter Tight"/>
                <a:cs typeface="Inter Tight"/>
                <a:sym typeface="Inter Tight"/>
              </a:rPr>
              <a:t>Reproducible reward-gaming testbed · dose-response characterization · probe-trainability window · out-of-incentive generalization.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9"/>
          <p:cNvSpPr/>
          <p:nvPr/>
        </p:nvSpPr>
        <p:spPr>
          <a:xfrm>
            <a:off x="838200" y="4921523"/>
            <a:ext cx="8157046" cy="9525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9"/>
          <p:cNvSpPr/>
          <p:nvPr/>
        </p:nvSpPr>
        <p:spPr>
          <a:xfrm>
            <a:off x="838200" y="4094783"/>
            <a:ext cx="2076450" cy="6933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D6C8"/>
              </a:buClr>
              <a:buSzPts val="1500"/>
              <a:buFont typeface="JetBrains Mono"/>
              <a:buNone/>
            </a:pPr>
            <a:r>
              <a:rPr lang="en-US" sz="1500">
                <a:solidFill>
                  <a:srgbClr val="67D6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WHAT'S NEXT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9"/>
          <p:cNvSpPr/>
          <p:nvPr/>
        </p:nvSpPr>
        <p:spPr>
          <a:xfrm>
            <a:off x="3105150" y="4056683"/>
            <a:ext cx="6066799" cy="7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950"/>
              <a:buFont typeface="Inter Tight"/>
              <a:buNone/>
            </a:pPr>
            <a:r>
              <a:rPr lang="en-US" sz="1950">
                <a:solidFill>
                  <a:srgbClr val="E8EEF7"/>
                </a:solidFill>
                <a:latin typeface="Inter Tight"/>
                <a:ea typeface="Inter Tight"/>
                <a:cs typeface="Inter Tight"/>
                <a:sym typeface="Inter Tight"/>
              </a:rPr>
              <a:t>May 12 paper: bootstrap CIs · expanded probes · held-out family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9"/>
          <p:cNvSpPr/>
          <p:nvPr/>
        </p:nvSpPr>
        <p:spPr>
          <a:xfrm>
            <a:off x="838200" y="5816873"/>
            <a:ext cx="8157046" cy="9525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9"/>
          <p:cNvSpPr/>
          <p:nvPr/>
        </p:nvSpPr>
        <p:spPr>
          <a:xfrm>
            <a:off x="838200" y="5140598"/>
            <a:ext cx="2076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D6C8"/>
              </a:buClr>
              <a:buSzPts val="1500"/>
              <a:buFont typeface="JetBrains Mono"/>
              <a:buNone/>
            </a:pPr>
            <a:r>
              <a:rPr lang="en-US" sz="1500">
                <a:solidFill>
                  <a:srgbClr val="67D6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OPEN PROBLEMS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9"/>
          <p:cNvSpPr/>
          <p:nvPr/>
        </p:nvSpPr>
        <p:spPr>
          <a:xfrm>
            <a:off x="3105150" y="5102498"/>
            <a:ext cx="6066799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950"/>
              <a:buFont typeface="Inter Tight"/>
              <a:buNone/>
            </a:pPr>
            <a:r>
              <a:rPr lang="en-US" sz="1950">
                <a:solidFill>
                  <a:srgbClr val="E8EEF7"/>
                </a:solidFill>
                <a:latin typeface="Inter Tight"/>
                <a:ea typeface="Inter Tight"/>
                <a:cs typeface="Inter Tight"/>
                <a:sym typeface="Inter Tight"/>
              </a:rPr>
              <a:t>Activation steering at best probe layer (causal upgrade)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9"/>
          <p:cNvSpPr/>
          <p:nvPr/>
        </p:nvSpPr>
        <p:spPr>
          <a:xfrm>
            <a:off x="838200" y="6862688"/>
            <a:ext cx="8157046" cy="9525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9"/>
          <p:cNvSpPr/>
          <p:nvPr/>
        </p:nvSpPr>
        <p:spPr>
          <a:xfrm>
            <a:off x="838200" y="6035948"/>
            <a:ext cx="2076450" cy="6933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D6C8"/>
              </a:buClr>
              <a:buSzPts val="1500"/>
              <a:buFont typeface="JetBrains Mono"/>
              <a:buNone/>
            </a:pPr>
            <a:r>
              <a:rPr lang="en-US" sz="1500">
                <a:solidFill>
                  <a:srgbClr val="67D6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STILL PENDING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9"/>
          <p:cNvSpPr/>
          <p:nvPr/>
        </p:nvSpPr>
        <p:spPr>
          <a:xfrm>
            <a:off x="3105150" y="5997848"/>
            <a:ext cx="6066799" cy="7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950"/>
              <a:buFont typeface="Inter Tight"/>
              <a:buNone/>
            </a:pPr>
            <a:r>
              <a:rPr lang="en-US" sz="1950">
                <a:solidFill>
                  <a:srgbClr val="E8EEF7"/>
                </a:solidFill>
                <a:latin typeface="Inter Tight"/>
                <a:ea typeface="Inter Tight"/>
                <a:cs typeface="Inter Tight"/>
                <a:sym typeface="Inter Tight"/>
              </a:rPr>
              <a:t>CUDA equivalence-gate debug for transfer beyond MPS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9"/>
          <p:cNvSpPr/>
          <p:nvPr/>
        </p:nvSpPr>
        <p:spPr>
          <a:xfrm>
            <a:off x="838200" y="7081763"/>
            <a:ext cx="2076450" cy="6933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D6C8"/>
              </a:buClr>
              <a:buSzPts val="1500"/>
              <a:buFont typeface="JetBrains Mono"/>
              <a:buNone/>
            </a:pPr>
            <a:r>
              <a:rPr lang="en-US" sz="1500">
                <a:solidFill>
                  <a:srgbClr val="67D6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SCOPE GUARD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9"/>
          <p:cNvSpPr/>
          <p:nvPr/>
        </p:nvSpPr>
        <p:spPr>
          <a:xfrm>
            <a:off x="3105150" y="7043663"/>
            <a:ext cx="6066799" cy="7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950"/>
              <a:buFont typeface="Inter Tight"/>
              <a:buNone/>
            </a:pPr>
            <a:r>
              <a:rPr lang="en-US" sz="1950">
                <a:solidFill>
                  <a:srgbClr val="E8EEF7"/>
                </a:solidFill>
                <a:latin typeface="Inter Tight"/>
                <a:ea typeface="Inter Tight"/>
                <a:cs typeface="Inter Tight"/>
                <a:sym typeface="Inter Tight"/>
              </a:rPr>
              <a:t>“Misreporting” / “reward gaming” unless an operational label justifies “deception”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9"/>
          <p:cNvSpPr/>
          <p:nvPr/>
        </p:nvSpPr>
        <p:spPr>
          <a:xfrm>
            <a:off x="9681046" y="3188047"/>
            <a:ext cx="800181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4A4A"/>
              </a:buClr>
              <a:buSzPts val="1650"/>
              <a:buFont typeface="JetBrains Mono"/>
              <a:buNone/>
            </a:pPr>
            <a:r>
              <a:rPr lang="en-US" sz="1650">
                <a:solidFill>
                  <a:srgbClr val="D94A4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FINAL THOUGHTS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9"/>
          <p:cNvSpPr/>
          <p:nvPr/>
        </p:nvSpPr>
        <p:spPr>
          <a:xfrm>
            <a:off x="9681050" y="3673825"/>
            <a:ext cx="7349400" cy="12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4500"/>
              <a:buFont typeface="Newsreader"/>
              <a:buNone/>
            </a:pPr>
            <a:r>
              <a:rPr i="1" lang="en-US" sz="4500">
                <a:solidFill>
                  <a:srgbClr val="E8EEF7"/>
                </a:solidFill>
                <a:latin typeface="Newsreader"/>
                <a:ea typeface="Newsreader"/>
                <a:cs typeface="Newsreader"/>
                <a:sym typeface="Newsreader"/>
              </a:rPr>
              <a:t>Don't scale the model to hide an eval problem.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9"/>
          <p:cNvSpPr/>
          <p:nvPr/>
        </p:nvSpPr>
        <p:spPr>
          <a:xfrm>
            <a:off x="9681046" y="5441603"/>
            <a:ext cx="7768754" cy="9525"/>
          </a:xfrm>
          <a:prstGeom prst="rect">
            <a:avLst/>
          </a:prstGeom>
          <a:solidFill>
            <a:srgbClr val="E8EEF7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9"/>
          <p:cNvSpPr/>
          <p:nvPr/>
        </p:nvSpPr>
        <p:spPr>
          <a:xfrm>
            <a:off x="9681046" y="5717828"/>
            <a:ext cx="800181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650"/>
              <a:buFont typeface="JetBrains Mono"/>
              <a:buNone/>
            </a:pPr>
            <a:r>
              <a:rPr lang="en-US" sz="165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TEAM RAV.AI – QUESTIONS?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9"/>
          <p:cNvSpPr/>
          <p:nvPr/>
        </p:nvSpPr>
        <p:spPr>
          <a:xfrm>
            <a:off x="9681046" y="6165503"/>
            <a:ext cx="2313087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4A4A"/>
              </a:buClr>
              <a:buSzPts val="1950"/>
              <a:buFont typeface="Inter Tight"/>
              <a:buNone/>
            </a:pPr>
            <a:r>
              <a:rPr b="1" lang="en-US" sz="1950">
                <a:solidFill>
                  <a:srgbClr val="D94A4A"/>
                </a:solidFill>
                <a:latin typeface="Inter Tight"/>
                <a:ea typeface="Inter Tight"/>
                <a:cs typeface="Inter Tight"/>
                <a:sym typeface="Inter Tight"/>
              </a:rPr>
              <a:t>R</a:t>
            </a:r>
            <a:r>
              <a:rPr lang="en-US" sz="1950">
                <a:solidFill>
                  <a:srgbClr val="E8EEF7"/>
                </a:solidFill>
                <a:latin typeface="Inter Tight"/>
                <a:ea typeface="Inter Tight"/>
                <a:cs typeface="Inter Tight"/>
                <a:sym typeface="Inter Tight"/>
              </a:rPr>
              <a:t>ithika Devarakonda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9"/>
          <p:cNvSpPr/>
          <p:nvPr/>
        </p:nvSpPr>
        <p:spPr>
          <a:xfrm>
            <a:off x="15826680" y="6208365"/>
            <a:ext cx="1203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500"/>
              <a:buFont typeface="JetBrains Mono"/>
              <a:buNone/>
            </a:pPr>
            <a:r>
              <a:rPr lang="en-US" sz="150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TRAINING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9"/>
          <p:cNvSpPr/>
          <p:nvPr/>
        </p:nvSpPr>
        <p:spPr>
          <a:xfrm>
            <a:off x="9681046" y="6598890"/>
            <a:ext cx="2225204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4A4A"/>
              </a:buClr>
              <a:buSzPts val="1950"/>
              <a:buFont typeface="Inter Tight"/>
              <a:buNone/>
            </a:pPr>
            <a:r>
              <a:rPr b="1" lang="en-US" sz="1950">
                <a:solidFill>
                  <a:srgbClr val="D94A4A"/>
                </a:solidFill>
                <a:latin typeface="Inter Tight"/>
                <a:ea typeface="Inter Tight"/>
                <a:cs typeface="Inter Tight"/>
                <a:sym typeface="Inter Tight"/>
              </a:rPr>
              <a:t>A</a:t>
            </a:r>
            <a:r>
              <a:rPr lang="en-US" sz="1950">
                <a:solidFill>
                  <a:srgbClr val="E8EEF7"/>
                </a:solidFill>
                <a:latin typeface="Inter Tight"/>
                <a:ea typeface="Inter Tight"/>
                <a:cs typeface="Inter Tight"/>
                <a:sym typeface="Inter Tight"/>
              </a:rPr>
              <a:t>lexander Xin (Wei)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9"/>
          <p:cNvSpPr/>
          <p:nvPr/>
        </p:nvSpPr>
        <p:spPr>
          <a:xfrm>
            <a:off x="16108635" y="6641753"/>
            <a:ext cx="9222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500"/>
              <a:buFont typeface="JetBrains Mono"/>
              <a:buNone/>
            </a:pPr>
            <a:r>
              <a:rPr lang="en-US" sz="150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PROBES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9"/>
          <p:cNvSpPr/>
          <p:nvPr/>
        </p:nvSpPr>
        <p:spPr>
          <a:xfrm>
            <a:off x="9681046" y="7032278"/>
            <a:ext cx="1465138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4A4A"/>
              </a:buClr>
              <a:buSzPts val="1950"/>
              <a:buFont typeface="Inter Tight"/>
              <a:buNone/>
            </a:pPr>
            <a:r>
              <a:rPr b="1" lang="en-US" sz="1950">
                <a:solidFill>
                  <a:srgbClr val="D94A4A"/>
                </a:solidFill>
                <a:latin typeface="Inter Tight"/>
                <a:ea typeface="Inter Tight"/>
                <a:cs typeface="Inter Tight"/>
                <a:sym typeface="Inter Tight"/>
              </a:rPr>
              <a:t>V</a:t>
            </a:r>
            <a:r>
              <a:rPr lang="en-US" sz="1950">
                <a:solidFill>
                  <a:srgbClr val="E8EEF7"/>
                </a:solidFill>
                <a:latin typeface="Inter Tight"/>
                <a:ea typeface="Inter Tight"/>
                <a:cs typeface="Inter Tight"/>
                <a:sym typeface="Inter Tight"/>
              </a:rPr>
              <a:t>ikas Chelur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9"/>
          <p:cNvSpPr/>
          <p:nvPr/>
        </p:nvSpPr>
        <p:spPr>
          <a:xfrm>
            <a:off x="15544800" y="7075140"/>
            <a:ext cx="1485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500"/>
              <a:buFont typeface="JetBrains Mono"/>
              <a:buNone/>
            </a:pPr>
            <a:r>
              <a:rPr lang="en-US" sz="150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EVALUATION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9"/>
          <p:cNvSpPr/>
          <p:nvPr/>
        </p:nvSpPr>
        <p:spPr>
          <a:xfrm>
            <a:off x="16681624" y="9791700"/>
            <a:ext cx="84437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350"/>
              <a:buFont typeface="JetBrains Mono"/>
              <a:buNone/>
            </a:pPr>
            <a:r>
              <a:rPr lang="en-US" sz="1350">
                <a:solidFill>
                  <a:srgbClr val="7A86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17 / 17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9" name="Google Shape;609;p19"/>
          <p:cNvPicPr preferRelativeResize="0"/>
          <p:nvPr/>
        </p:nvPicPr>
        <p:blipFill rotWithShape="1">
          <a:blip r:embed="rId3">
            <a:alphaModFix amt="50000"/>
          </a:blip>
          <a:srcRect b="17069" l="0" r="0" t="17076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